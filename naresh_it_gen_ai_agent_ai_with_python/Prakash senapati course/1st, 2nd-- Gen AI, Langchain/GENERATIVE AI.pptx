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264" r:id="rId4"/>
    <p:sldId id="265" r:id="rId5"/>
    <p:sldId id="270" r:id="rId6"/>
    <p:sldId id="271" r:id="rId7"/>
    <p:sldId id="272" r:id="rId8"/>
    <p:sldId id="273" r:id="rId9"/>
    <p:sldId id="274" r:id="rId10"/>
    <p:sldId id="267" r:id="rId11"/>
    <p:sldId id="268" r:id="rId12"/>
    <p:sldId id="276" r:id="rId13"/>
    <p:sldId id="278" r:id="rId14"/>
    <p:sldId id="281" r:id="rId15"/>
    <p:sldId id="284" r:id="rId16"/>
    <p:sldId id="285" r:id="rId17"/>
    <p:sldId id="288" r:id="rId18"/>
    <p:sldId id="287" r:id="rId19"/>
    <p:sldId id="289" r:id="rId20"/>
    <p:sldId id="290"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1962E-10C1-748B-CDFD-960AF6653A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66A496-6C8A-3222-EB1D-298E795861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524F1A-A464-2D3B-A3C8-89A9AC0A8DD1}"/>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5" name="Footer Placeholder 4">
            <a:extLst>
              <a:ext uri="{FF2B5EF4-FFF2-40B4-BE49-F238E27FC236}">
                <a16:creationId xmlns:a16="http://schemas.microsoft.com/office/drawing/2014/main" id="{42FF683D-6665-2F82-74AA-B43748CE1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5EC4C8-0E64-7616-D248-F702CC2616C2}"/>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70257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81800-3ABB-CC9D-72F5-C14409C6B8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C97F30-B749-CC82-1275-BBB55CA69B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BF2454-37A9-15CD-FCC1-3E237FF957CF}"/>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5" name="Footer Placeholder 4">
            <a:extLst>
              <a:ext uri="{FF2B5EF4-FFF2-40B4-BE49-F238E27FC236}">
                <a16:creationId xmlns:a16="http://schemas.microsoft.com/office/drawing/2014/main" id="{9DDDB05E-DB41-E330-7445-71F79CFF9E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7FEE26-280F-733F-D047-40562A55CAC4}"/>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2501309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76CF7-F582-5FA0-B4B5-ABBCD9E763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96FA61-5F82-1786-B867-DDAFFC78DA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CB468C-62D2-59EC-07FA-D044314EEACE}"/>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5" name="Footer Placeholder 4">
            <a:extLst>
              <a:ext uri="{FF2B5EF4-FFF2-40B4-BE49-F238E27FC236}">
                <a16:creationId xmlns:a16="http://schemas.microsoft.com/office/drawing/2014/main" id="{8885BCF9-9DED-666E-678F-C2FB300F2C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1182FB-D19C-F0C9-17A3-4A0C6402C4DA}"/>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217749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D9B26-D494-D93D-4D01-19E88FD713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3ABC77-C13A-0D9D-0D71-340DBDD3B5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88591F-2B75-654E-6761-D018ECFD61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7D974B-3D3A-BF26-B596-38AB35A5BA32}"/>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6" name="Footer Placeholder 5">
            <a:extLst>
              <a:ext uri="{FF2B5EF4-FFF2-40B4-BE49-F238E27FC236}">
                <a16:creationId xmlns:a16="http://schemas.microsoft.com/office/drawing/2014/main" id="{B91C92E8-C99A-2D92-3459-413B7BA04F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3E4679-EFF9-0C25-5453-4424C39FF9B1}"/>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2394238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584C5-6FC7-1CE8-52BD-77D61FEFE05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44DED6-097D-A357-2B95-09C1A5A446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A19C41-255D-B3DC-6DCF-61E5A0BA0D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25B9D6-0391-7131-01C3-F8C9BBB5BC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DFD84B-62B4-2E51-3076-6C4310166D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896811-2DBD-9E2F-736C-52767E7E9FF5}"/>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8" name="Footer Placeholder 7">
            <a:extLst>
              <a:ext uri="{FF2B5EF4-FFF2-40B4-BE49-F238E27FC236}">
                <a16:creationId xmlns:a16="http://schemas.microsoft.com/office/drawing/2014/main" id="{2D6330EF-3C6B-CC21-B4BB-6C0F23EA75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4119D29-DC0F-48C2-874C-A2C865546569}"/>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143477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CFE2F-7D0B-3A32-72FF-D248AAF9CE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1398DD-B509-2898-570C-AAB3FBDCB8DE}"/>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4" name="Footer Placeholder 3">
            <a:extLst>
              <a:ext uri="{FF2B5EF4-FFF2-40B4-BE49-F238E27FC236}">
                <a16:creationId xmlns:a16="http://schemas.microsoft.com/office/drawing/2014/main" id="{5B6E66D9-BF88-345A-A007-4B5934B433D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566E54-E22C-81E9-6023-B1DC4E9C9C84}"/>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1815087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EB6AE7-4001-E763-F229-F511D8CCAA86}"/>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3" name="Footer Placeholder 2">
            <a:extLst>
              <a:ext uri="{FF2B5EF4-FFF2-40B4-BE49-F238E27FC236}">
                <a16:creationId xmlns:a16="http://schemas.microsoft.com/office/drawing/2014/main" id="{8CAC6B66-F546-EB2E-170E-221A9AB14F0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10FC13-3829-D385-6412-089922D1C41A}"/>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2819414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71AB1-A258-10B3-736E-A4F391CDD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BB8AD4-0980-D7F5-F87F-C82A47EBAD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AB1DB4-4B04-88D9-8B4B-EDD90A800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0D0843-755E-6786-A13F-E9F8C4687B5A}"/>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6" name="Footer Placeholder 5">
            <a:extLst>
              <a:ext uri="{FF2B5EF4-FFF2-40B4-BE49-F238E27FC236}">
                <a16:creationId xmlns:a16="http://schemas.microsoft.com/office/drawing/2014/main" id="{64C5E063-3896-3A15-5A1A-145CECF6C2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2E123A-7D9E-2DEB-36B1-2CFB78313F4F}"/>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927681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B690E-1DEC-54E6-8117-3CBC69E86C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9FE45F-4A88-8853-5DF9-4071CBE2EE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041961-C2F3-53C1-0EBA-592F2A4926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02FFCB-0609-B1D3-73CB-539CD2443859}"/>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6" name="Footer Placeholder 5">
            <a:extLst>
              <a:ext uri="{FF2B5EF4-FFF2-40B4-BE49-F238E27FC236}">
                <a16:creationId xmlns:a16="http://schemas.microsoft.com/office/drawing/2014/main" id="{3EA7CB82-0672-AA0F-7B30-F3CEFC93F5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EF9620-7482-7C2C-EBCD-E9020FEE8356}"/>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1366410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23F28-2F69-F593-B25B-F5EE1B12FB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35DB2A-36EC-441E-1D0E-687F81F4F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DD2402-284E-2C9E-3D81-F773E2388759}"/>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5" name="Footer Placeholder 4">
            <a:extLst>
              <a:ext uri="{FF2B5EF4-FFF2-40B4-BE49-F238E27FC236}">
                <a16:creationId xmlns:a16="http://schemas.microsoft.com/office/drawing/2014/main" id="{5948F95E-54D1-4204-5697-9DEB191081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17F5CE-7D1C-E2D3-FBB4-BE7768D890F4}"/>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100188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22E2B2-3314-5162-57D8-2878651591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5F1A39-A7E9-F793-FDE0-C5DCA3EB38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B41367-F222-DEC3-8156-6285AD8E506D}"/>
              </a:ext>
            </a:extLst>
          </p:cNvPr>
          <p:cNvSpPr>
            <a:spLocks noGrp="1"/>
          </p:cNvSpPr>
          <p:nvPr>
            <p:ph type="dt" sz="half" idx="10"/>
          </p:nvPr>
        </p:nvSpPr>
        <p:spPr/>
        <p:txBody>
          <a:bodyPr/>
          <a:lstStyle/>
          <a:p>
            <a:fld id="{A96420A7-77C3-43F5-804A-27408E999AD2}" type="datetimeFigureOut">
              <a:rPr lang="en-IN" smtClean="0"/>
              <a:t>05-09-2026</a:t>
            </a:fld>
            <a:endParaRPr lang="en-IN"/>
          </a:p>
        </p:txBody>
      </p:sp>
      <p:sp>
        <p:nvSpPr>
          <p:cNvPr id="5" name="Footer Placeholder 4">
            <a:extLst>
              <a:ext uri="{FF2B5EF4-FFF2-40B4-BE49-F238E27FC236}">
                <a16:creationId xmlns:a16="http://schemas.microsoft.com/office/drawing/2014/main" id="{B925980D-E491-BE69-4705-5EB300B746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68C40A-4882-9F6A-42F7-FD918F221E85}"/>
              </a:ext>
            </a:extLst>
          </p:cNvPr>
          <p:cNvSpPr>
            <a:spLocks noGrp="1"/>
          </p:cNvSpPr>
          <p:nvPr>
            <p:ph type="sldNum" sz="quarter" idx="12"/>
          </p:nvPr>
        </p:nvSpPr>
        <p:spPr/>
        <p:txBody>
          <a:bodyPr/>
          <a:lstStyle/>
          <a:p>
            <a:fld id="{33E92F75-2D12-4050-8DE7-77E281CE8F4F}" type="slidenum">
              <a:rPr lang="en-IN" smtClean="0"/>
              <a:t>‹#›</a:t>
            </a:fld>
            <a:endParaRPr lang="en-IN"/>
          </a:p>
        </p:txBody>
      </p:sp>
    </p:spTree>
    <p:extLst>
      <p:ext uri="{BB962C8B-B14F-4D97-AF65-F5344CB8AC3E}">
        <p14:creationId xmlns:p14="http://schemas.microsoft.com/office/powerpoint/2010/main" val="2665264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A26F41-B1C1-2564-4607-44C9769951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4AD818-EB23-8353-8600-BB5270A9CC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331AB6-7C8D-B1F6-01B5-8D38404986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6420A7-77C3-43F5-804A-27408E999AD2}" type="datetimeFigureOut">
              <a:rPr lang="en-IN" smtClean="0"/>
              <a:t>05-09-2026</a:t>
            </a:fld>
            <a:endParaRPr lang="en-IN"/>
          </a:p>
        </p:txBody>
      </p:sp>
      <p:sp>
        <p:nvSpPr>
          <p:cNvPr id="5" name="Footer Placeholder 4">
            <a:extLst>
              <a:ext uri="{FF2B5EF4-FFF2-40B4-BE49-F238E27FC236}">
                <a16:creationId xmlns:a16="http://schemas.microsoft.com/office/drawing/2014/main" id="{E18B5077-633B-6513-437A-AF1C873327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60890EF-CFDD-9E08-A20C-38B0244E3C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E92F75-2D12-4050-8DE7-77E281CE8F4F}" type="slidenum">
              <a:rPr lang="en-IN" smtClean="0"/>
              <a:t>‹#›</a:t>
            </a:fld>
            <a:endParaRPr lang="en-IN"/>
          </a:p>
        </p:txBody>
      </p:sp>
    </p:spTree>
    <p:extLst>
      <p:ext uri="{BB962C8B-B14F-4D97-AF65-F5344CB8AC3E}">
        <p14:creationId xmlns:p14="http://schemas.microsoft.com/office/powerpoint/2010/main" val="4149456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chat.openai.co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techtarget.com/whatis/definition/Pathways-Language-Model-PaL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techtarget.com/whatis/definition/generative-design" TargetMode="Externa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www.techtarget.com/searchenterpriseai/tip/Successful-generative-AI-examples-worth-noting" TargetMode="External"/><Relationship Id="rId5" Type="http://schemas.openxmlformats.org/officeDocument/2006/relationships/hyperlink" Target="https://www.techtarget.com/searchenterpriseai/feature/ChatGPT-vs-GPT-How-are-they-different" TargetMode="Externa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hyperlink" Target="https://www.techtarget.com/searchenterpriseai/tip/7-top-generative-AI-benefits-for-business"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ada.cx/posts/real-world-examples-of-generative-ai-for-customer-service" TargetMode="External"/><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een and blue background with white text&#10;&#10;Description automatically generated">
            <a:extLst>
              <a:ext uri="{FF2B5EF4-FFF2-40B4-BE49-F238E27FC236}">
                <a16:creationId xmlns:a16="http://schemas.microsoft.com/office/drawing/2014/main" id="{4876BFDF-0295-0079-5581-347472981EC9}"/>
              </a:ext>
            </a:extLst>
          </p:cNvPr>
          <p:cNvPicPr>
            <a:picLocks noChangeAspect="1"/>
          </p:cNvPicPr>
          <p:nvPr/>
        </p:nvPicPr>
        <p:blipFill rotWithShape="1">
          <a:blip r:embed="rId2">
            <a:extLst>
              <a:ext uri="{28A0092B-C50C-407E-A947-70E740481C1C}">
                <a14:useLocalDpi xmlns:a14="http://schemas.microsoft.com/office/drawing/2010/main" val="0"/>
              </a:ext>
            </a:extLst>
          </a:blip>
          <a:srcRect l="2222" r="1" b="1"/>
          <a:stretch/>
        </p:blipFill>
        <p:spPr>
          <a:xfrm>
            <a:off x="0" y="1"/>
            <a:ext cx="12192000" cy="6858000"/>
          </a:xfrm>
          <a:prstGeom prst="rect">
            <a:avLst/>
          </a:prstGeom>
        </p:spPr>
      </p:pic>
      <p:grpSp>
        <p:nvGrpSpPr>
          <p:cNvPr id="31" name="Group 30">
            <a:extLst>
              <a:ext uri="{FF2B5EF4-FFF2-40B4-BE49-F238E27FC236}">
                <a16:creationId xmlns:a16="http://schemas.microsoft.com/office/drawing/2014/main" id="{28BE0C02-CBCA-69B2-5D32-1D724544D1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29" name="Rectangle 28">
              <a:extLst>
                <a:ext uri="{FF2B5EF4-FFF2-40B4-BE49-F238E27FC236}">
                  <a16:creationId xmlns:a16="http://schemas.microsoft.com/office/drawing/2014/main" id="{0F793C6E-5AED-C496-FD41-BC65B3CA2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DD26186-5427-98BC-4961-B55B6026B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5">
            <a:extLst>
              <a:ext uri="{FF2B5EF4-FFF2-40B4-BE49-F238E27FC236}">
                <a16:creationId xmlns:a16="http://schemas.microsoft.com/office/drawing/2014/main" id="{5BA90396-B235-CC5E-2C51-3DBE9198C29A}"/>
              </a:ext>
            </a:extLst>
          </p:cNvPr>
          <p:cNvSpPr/>
          <p:nvPr/>
        </p:nvSpPr>
        <p:spPr>
          <a:xfrm>
            <a:off x="8971280" y="5029200"/>
            <a:ext cx="2611120" cy="99568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b="1" dirty="0"/>
              <a:t>Dt: 21</a:t>
            </a:r>
            <a:r>
              <a:rPr lang="en-IN" b="1" baseline="30000" dirty="0"/>
              <a:t>st</a:t>
            </a:r>
            <a:r>
              <a:rPr lang="en-IN" b="1" dirty="0"/>
              <a:t>- Jan 2024</a:t>
            </a:r>
          </a:p>
          <a:p>
            <a:pPr algn="ctr"/>
            <a:r>
              <a:rPr lang="en-IN" b="1" dirty="0"/>
              <a:t>Time @ 10AM (Sunday)</a:t>
            </a:r>
          </a:p>
          <a:p>
            <a:pPr algn="ctr"/>
            <a:r>
              <a:rPr lang="en-IN" b="1" dirty="0"/>
              <a:t>Duration – 2 HR</a:t>
            </a:r>
          </a:p>
        </p:txBody>
      </p:sp>
    </p:spTree>
    <p:extLst>
      <p:ext uri="{BB962C8B-B14F-4D97-AF65-F5344CB8AC3E}">
        <p14:creationId xmlns:p14="http://schemas.microsoft.com/office/powerpoint/2010/main" val="2448805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94714483-7072-431F-9DBE-87F44E4D4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95892E1-F4A5-4991-AC52-4F417B14A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ACF597F8-76AA-44FA-8E6A-06223B66C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58" name="Oval 57">
              <a:extLst>
                <a:ext uri="{FF2B5EF4-FFF2-40B4-BE49-F238E27FC236}">
                  <a16:creationId xmlns:a16="http://schemas.microsoft.com/office/drawing/2014/main" id="{A6E12753-0A63-43EE-B28A-C989D033E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26FA385-76DA-40E9-9257-AA3E07FF6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262D75CA-F374-4878-8106-3EA5E970D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938667A5-74E3-4EFD-8C45-F48F47427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31512EE2-F4CC-4E18-9CDA-B92C11122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B99E503B-9B4D-4EE3-A50F-15AC374F6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E2683E3F-F855-4549-84F8-42064EC0F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8FC90B1E-0223-4440-AF22-8F32F6F0C7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68" name="Straight Connector 67">
              <a:extLst>
                <a:ext uri="{FF2B5EF4-FFF2-40B4-BE49-F238E27FC236}">
                  <a16:creationId xmlns:a16="http://schemas.microsoft.com/office/drawing/2014/main" id="{A2D2E879-0004-4D84-8137-1C09334038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3BE75A2-0D83-4F8E-84CC-D3BCD565B1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90F7F49-1039-49EF-A9BD-153DB590B6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E85F508-9EA4-4B4D-8171-648670650E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73" name="Rectangle 72">
            <a:extLst>
              <a:ext uri="{FF2B5EF4-FFF2-40B4-BE49-F238E27FC236}">
                <a16:creationId xmlns:a16="http://schemas.microsoft.com/office/drawing/2014/main" id="{832F3179-0CD5-40C8-9939-D8355006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a:extLst>
              <a:ext uri="{FF2B5EF4-FFF2-40B4-BE49-F238E27FC236}">
                <a16:creationId xmlns:a16="http://schemas.microsoft.com/office/drawing/2014/main" id="{11CE155D-684B-4F5E-B835-C52765E310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76" name="Straight Connector 75">
              <a:extLst>
                <a:ext uri="{FF2B5EF4-FFF2-40B4-BE49-F238E27FC236}">
                  <a16:creationId xmlns:a16="http://schemas.microsoft.com/office/drawing/2014/main" id="{04F84AF8-E1A7-41D4-A102-8F87CAE37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ED126F1-DB23-4314-B6C7-FE89E3C581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ACB2B6F-8883-4A00-88DD-98CDDD46B8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B9A2180-808A-4423-BB2B-6464B29000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Picture 4" descr="3D art of a person">
            <a:extLst>
              <a:ext uri="{FF2B5EF4-FFF2-40B4-BE49-F238E27FC236}">
                <a16:creationId xmlns:a16="http://schemas.microsoft.com/office/drawing/2014/main" id="{D6FCE459-040C-688C-BF5F-DF43718C6924}"/>
              </a:ext>
            </a:extLst>
          </p:cNvPr>
          <p:cNvPicPr>
            <a:picLocks noChangeAspect="1"/>
          </p:cNvPicPr>
          <p:nvPr/>
        </p:nvPicPr>
        <p:blipFill rotWithShape="1">
          <a:blip r:embed="rId2">
            <a:duotone>
              <a:prstClr val="black"/>
              <a:schemeClr val="bg1">
                <a:tint val="45000"/>
                <a:satMod val="400000"/>
              </a:schemeClr>
            </a:duotone>
            <a:alphaModFix amt="25000"/>
          </a:blip>
          <a:srcRect t="11499" b="17578"/>
          <a:stretch/>
        </p:blipFill>
        <p:spPr>
          <a:xfrm>
            <a:off x="1888610" y="29548"/>
            <a:ext cx="8479397" cy="6013845"/>
          </a:xfrm>
          <a:prstGeom prst="rect">
            <a:avLst/>
          </a:prstGeom>
        </p:spPr>
      </p:pic>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1972566" y="23586"/>
            <a:ext cx="8395441" cy="1500411"/>
          </a:xfrm>
          <a:noFill/>
        </p:spPr>
        <p:txBody>
          <a:bodyPr vert="horz" lIns="91440" tIns="45720" rIns="91440" bIns="45720" rtlCol="0" anchor="b">
            <a:normAutofit/>
          </a:bodyPr>
          <a:lstStyle/>
          <a:p>
            <a:r>
              <a:rPr lang="en-US" sz="4800" b="1" dirty="0">
                <a:solidFill>
                  <a:schemeClr val="bg1"/>
                </a:solidFill>
              </a:rPr>
              <a:t>3- GENERATIVE ARTIFICIAL INTELLIGENCE</a:t>
            </a: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1388995" y="1523997"/>
            <a:ext cx="8914394" cy="4519396"/>
          </a:xfrm>
          <a:noFill/>
        </p:spPr>
        <p:txBody>
          <a:bodyPr vert="horz" lIns="91440" tIns="45720" rIns="91440" bIns="45720" rtlCol="0" anchor="t">
            <a:normAutofit/>
          </a:bodyPr>
          <a:lstStyle/>
          <a:p>
            <a:pPr indent="-228600" algn="l">
              <a:buFont typeface="Arial" panose="020B0604020202020204" pitchFamily="34" charset="0"/>
              <a:buChar char="•"/>
            </a:pPr>
            <a:endParaRPr lang="en-US" b="1" dirty="0">
              <a:solidFill>
                <a:schemeClr val="bg1"/>
              </a:solidFill>
            </a:endParaRPr>
          </a:p>
          <a:p>
            <a:pPr indent="-228600" algn="l">
              <a:buFont typeface="Arial" panose="020B0604020202020204" pitchFamily="34" charset="0"/>
              <a:buChar char="•"/>
            </a:pPr>
            <a:r>
              <a:rPr lang="en-US" b="1" dirty="0">
                <a:solidFill>
                  <a:schemeClr val="bg1"/>
                </a:solidFill>
              </a:rPr>
              <a:t>WHAT IS GENERATIVE AI ?</a:t>
            </a:r>
          </a:p>
          <a:p>
            <a:pPr indent="-228600" algn="l">
              <a:buFont typeface="Arial" panose="020B0604020202020204" pitchFamily="34" charset="0"/>
              <a:buChar char="•"/>
            </a:pPr>
            <a:r>
              <a:rPr lang="en-US" b="1" dirty="0">
                <a:solidFill>
                  <a:schemeClr val="bg1"/>
                </a:solidFill>
              </a:rPr>
              <a:t>WHY GENERATIVE AI IS MORE POPULAR NOW ?</a:t>
            </a:r>
          </a:p>
          <a:p>
            <a:pPr indent="-228600" algn="l">
              <a:buFont typeface="Arial" panose="020B0604020202020204" pitchFamily="34" charset="0"/>
              <a:buChar char="•"/>
            </a:pPr>
            <a:r>
              <a:rPr lang="en-US" b="1" dirty="0">
                <a:solidFill>
                  <a:schemeClr val="bg1"/>
                </a:solidFill>
              </a:rPr>
              <a:t>HOW GENARATIVE AI WORK ?</a:t>
            </a:r>
          </a:p>
          <a:p>
            <a:pPr indent="-228600" algn="l">
              <a:buFont typeface="Arial" panose="020B0604020202020204" pitchFamily="34" charset="0"/>
              <a:buChar char="•"/>
            </a:pPr>
            <a:r>
              <a:rPr lang="en-US" b="1" dirty="0">
                <a:solidFill>
                  <a:schemeClr val="bg1"/>
                </a:solidFill>
              </a:rPr>
              <a:t>WHAT IS GENERATIVE AI MODELS ?</a:t>
            </a:r>
          </a:p>
          <a:p>
            <a:pPr indent="-228600" algn="l">
              <a:buFont typeface="Arial" panose="020B0604020202020204" pitchFamily="34" charset="0"/>
              <a:buChar char="•"/>
            </a:pPr>
            <a:r>
              <a:rPr lang="en-US" b="1" dirty="0">
                <a:solidFill>
                  <a:schemeClr val="bg1"/>
                </a:solidFill>
              </a:rPr>
              <a:t>WHAT ARE DALL-E, CHATGPT &amp; BARD ?</a:t>
            </a:r>
          </a:p>
          <a:p>
            <a:pPr indent="-228600" algn="l">
              <a:buFont typeface="Arial" panose="020B0604020202020204" pitchFamily="34" charset="0"/>
              <a:buChar char="•"/>
            </a:pPr>
            <a:r>
              <a:rPr lang="en-US" b="1" dirty="0">
                <a:solidFill>
                  <a:schemeClr val="bg1"/>
                </a:solidFill>
              </a:rPr>
              <a:t>WHAT ARE THE USE CASES OF GENERATIVE AI , BY INDUSTRY ?</a:t>
            </a:r>
          </a:p>
          <a:p>
            <a:pPr indent="-228600" algn="l">
              <a:buFont typeface="Arial" panose="020B0604020202020204" pitchFamily="34" charset="0"/>
              <a:buChar char="•"/>
            </a:pPr>
            <a:r>
              <a:rPr lang="en-US" b="1" dirty="0">
                <a:solidFill>
                  <a:schemeClr val="bg1"/>
                </a:solidFill>
              </a:rPr>
              <a:t>WHAT ARE THE BENEFITS OF GENERATIVE AI ?</a:t>
            </a:r>
          </a:p>
          <a:p>
            <a:pPr indent="-228600" algn="l">
              <a:buFont typeface="Arial" panose="020B0604020202020204" pitchFamily="34" charset="0"/>
              <a:buChar char="•"/>
            </a:pPr>
            <a:r>
              <a:rPr lang="en-US" b="1" dirty="0">
                <a:solidFill>
                  <a:schemeClr val="bg1"/>
                </a:solidFill>
              </a:rPr>
              <a:t>WHAT DOES IT TAKE TO BUILD GENEARATIVE  AI MODEL ?</a:t>
            </a:r>
          </a:p>
        </p:txBody>
      </p:sp>
    </p:spTree>
    <p:extLst>
      <p:ext uri="{BB962C8B-B14F-4D97-AF65-F5344CB8AC3E}">
        <p14:creationId xmlns:p14="http://schemas.microsoft.com/office/powerpoint/2010/main" val="2220576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DDC95FA9-076A-421D-93A3-9C29819EBF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A6C8D94-3813-4D93-A6A7-A97EFFBCF3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3794673D-8563-4993-8E86-6D89D6E97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30" name="Oval 29">
              <a:extLst>
                <a:ext uri="{FF2B5EF4-FFF2-40B4-BE49-F238E27FC236}">
                  <a16:creationId xmlns:a16="http://schemas.microsoft.com/office/drawing/2014/main" id="{C8906114-25F0-4386-BC12-A5CB6A04F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89434651-094A-4780-979E-29A3042F51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15BDC44-59B0-48DF-871F-0881BB593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618FCF5-B341-43DF-A055-DC56EA920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59408E04-9221-499E-B0F3-3AFD9025F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67B1604-40F1-4335-8A11-6091E0F52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182880" y="439923"/>
            <a:ext cx="11350979" cy="826376"/>
          </a:xfrm>
          <a:noFill/>
        </p:spPr>
        <p:txBody>
          <a:bodyPr vert="horz" lIns="91440" tIns="45720" rIns="91440" bIns="45720" rtlCol="0" anchor="b">
            <a:normAutofit/>
          </a:bodyPr>
          <a:lstStyle/>
          <a:p>
            <a:r>
              <a:rPr lang="en-US" sz="4000" b="1" kern="1200" dirty="0">
                <a:solidFill>
                  <a:schemeClr val="bg1"/>
                </a:solidFill>
                <a:latin typeface="+mj-lt"/>
                <a:ea typeface="+mj-ea"/>
                <a:cs typeface="+mj-cs"/>
              </a:rPr>
              <a:t>WHY GENERATIVE AI IS MORE POPULAR NOW ?</a:t>
            </a:r>
          </a:p>
        </p:txBody>
      </p:sp>
      <p:sp>
        <p:nvSpPr>
          <p:cNvPr id="37" name="Rectangle 36">
            <a:extLst>
              <a:ext uri="{FF2B5EF4-FFF2-40B4-BE49-F238E27FC236}">
                <a16:creationId xmlns:a16="http://schemas.microsoft.com/office/drawing/2014/main" id="{AA00467E-A507-4BEF-AAB5-2B35F13FA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34BCCBFD-2A87-46DC-A665-6039BF72DB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0" name="Straight Connector 39">
              <a:extLst>
                <a:ext uri="{FF2B5EF4-FFF2-40B4-BE49-F238E27FC236}">
                  <a16:creationId xmlns:a16="http://schemas.microsoft.com/office/drawing/2014/main" id="{91707DB8-2262-4E11-B8E7-A0042E4394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CA04D0-796D-4920-BED4-6278708685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8B0366-955C-44C5-B011-378E1994D1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38F216F-4DA3-4165-A786-E7F2710B84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5" name="Rectangle 44">
            <a:extLst>
              <a:ext uri="{FF2B5EF4-FFF2-40B4-BE49-F238E27FC236}">
                <a16:creationId xmlns:a16="http://schemas.microsoft.com/office/drawing/2014/main" id="{05E35C12-B6B4-4F57-950C-6EB3CD8F48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2B14810E-84F3-4F8A-AF58-F452B98151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48" name="Straight Connector 47">
              <a:extLst>
                <a:ext uri="{FF2B5EF4-FFF2-40B4-BE49-F238E27FC236}">
                  <a16:creationId xmlns:a16="http://schemas.microsoft.com/office/drawing/2014/main" id="{3687E051-F20C-4A55-AEDD-ED9B2D996A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F834F70-7A0E-4202-8ECC-5EE81C93C0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2993E0E-3E7B-48D8-A799-39FECD3E15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B12773A-5C03-4DD5-B9B4-24F4A42994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704445" y="1752400"/>
            <a:ext cx="10698480" cy="3528531"/>
          </a:xfrm>
          <a:noFill/>
        </p:spPr>
        <p:txBody>
          <a:bodyPr vert="horz" lIns="91440" tIns="45720" rIns="91440" bIns="45720" rtlCol="0" anchor="t">
            <a:normAutofit/>
          </a:bodyPr>
          <a:lstStyle/>
          <a:p>
            <a:pPr indent="-228600" algn="l">
              <a:buFont typeface="Arial" panose="020B0604020202020204" pitchFamily="34" charset="0"/>
              <a:buChar char="•"/>
            </a:pPr>
            <a:r>
              <a:rPr lang="en-US" b="0" i="0" dirty="0">
                <a:solidFill>
                  <a:schemeClr val="bg1"/>
                </a:solidFill>
                <a:effectLst/>
              </a:rPr>
              <a:t>Generative AI has seen significant advancements in recent times. </a:t>
            </a:r>
          </a:p>
          <a:p>
            <a:pPr indent="-228600" algn="l">
              <a:buFont typeface="Arial" panose="020B0604020202020204" pitchFamily="34" charset="0"/>
              <a:buChar char="•"/>
            </a:pPr>
            <a:r>
              <a:rPr lang="en-US" b="0" i="0" dirty="0">
                <a:solidFill>
                  <a:schemeClr val="bg1"/>
                </a:solidFill>
                <a:effectLst/>
              </a:rPr>
              <a:t>You’ve probably already used </a:t>
            </a:r>
            <a:r>
              <a:rPr lang="en-US" b="0" i="0" u="none" strike="noStrike" dirty="0">
                <a:solidFill>
                  <a:schemeClr val="bg1"/>
                </a:solidFill>
                <a:effectLst/>
                <a:hlinkClick r:id="rId2"/>
              </a:rPr>
              <a:t>ChatGPT</a:t>
            </a:r>
            <a:r>
              <a:rPr lang="en-US" b="0" i="0" dirty="0">
                <a:solidFill>
                  <a:schemeClr val="bg1"/>
                </a:solidFill>
                <a:effectLst/>
              </a:rPr>
              <a:t>, one of the major players in the field and the fastest AI product to obtain 100 million users. </a:t>
            </a:r>
          </a:p>
          <a:p>
            <a:pPr indent="-228600" algn="l">
              <a:buFont typeface="Arial" panose="020B0604020202020204" pitchFamily="34" charset="0"/>
              <a:buChar char="•"/>
            </a:pPr>
            <a:r>
              <a:rPr lang="en-US" b="0" i="0" dirty="0">
                <a:solidFill>
                  <a:schemeClr val="bg1"/>
                </a:solidFill>
                <a:effectLst/>
              </a:rPr>
              <a:t>Several other dominant and emerging AI tools have people talking: DALL-E, Bard, Jasper, and more.</a:t>
            </a:r>
          </a:p>
          <a:p>
            <a:pPr indent="-228600" algn="l">
              <a:buFont typeface="Arial" panose="020B0604020202020204" pitchFamily="34" charset="0"/>
              <a:buChar char="•"/>
            </a:pPr>
            <a:r>
              <a:rPr lang="en-US" b="0" i="0" dirty="0">
                <a:solidFill>
                  <a:schemeClr val="bg1"/>
                </a:solidFill>
                <a:effectLst/>
              </a:rPr>
              <a:t>Major tech companies are in a race against startups to harness the power of AI applications, whether it’s rewriting the rules of search, reaching significant market caps, or innovating in other areas. </a:t>
            </a:r>
          </a:p>
          <a:p>
            <a:pPr indent="-228600" algn="l">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2528196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3385" y="13128"/>
            <a:ext cx="3620802" cy="6844872"/>
          </a:xfrm>
          <a:prstGeom prst="rect">
            <a:avLst/>
          </a:prstGeom>
          <a:gradFill>
            <a:gsLst>
              <a:gs pos="0">
                <a:srgbClr val="000000">
                  <a:alpha val="72000"/>
                </a:srgbClr>
              </a:gs>
              <a:gs pos="98000">
                <a:schemeClr val="accent1">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07414" y="0"/>
            <a:ext cx="8584585" cy="6400798"/>
          </a:xfrm>
          <a:prstGeom prst="rect">
            <a:avLst/>
          </a:prstGeom>
          <a:gradFill>
            <a:gsLst>
              <a:gs pos="0">
                <a:schemeClr val="accent1">
                  <a:lumMod val="75000"/>
                  <a:alpha val="50000"/>
                </a:schemeClr>
              </a:gs>
              <a:gs pos="99000">
                <a:srgbClr val="000000">
                  <a:alpha val="65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835682F0-7BC6-4526-8BFA-58EA002C8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1348001" y="892771"/>
            <a:ext cx="4675167" cy="5009112"/>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43000">
                <a:schemeClr val="accent1">
                  <a:lumMod val="60000"/>
                  <a:lumOff val="40000"/>
                  <a:alpha val="0"/>
                </a:schemeClr>
              </a:gs>
              <a:gs pos="100000">
                <a:schemeClr val="accent1">
                  <a:alpha val="2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2124102" y="107984"/>
            <a:ext cx="8689745" cy="836449"/>
          </a:xfrm>
        </p:spPr>
        <p:txBody>
          <a:bodyPr vert="horz" lIns="91440" tIns="45720" rIns="91440" bIns="45720" rtlCol="0">
            <a:normAutofit/>
          </a:bodyPr>
          <a:lstStyle/>
          <a:p>
            <a:pPr algn="l"/>
            <a:r>
              <a:rPr lang="en-US" sz="4800" b="1" dirty="0">
                <a:solidFill>
                  <a:srgbClr val="FFFFFF"/>
                </a:solidFill>
              </a:rPr>
              <a:t>HOW GENEARATIVE AI WORK? </a:t>
            </a: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0" y="858118"/>
            <a:ext cx="12105199" cy="6107868"/>
          </a:xfrm>
        </p:spPr>
        <p:txBody>
          <a:bodyPr vert="horz" lIns="91440" tIns="45720" rIns="91440" bIns="45720" rtlCol="0">
            <a:noAutofit/>
          </a:bodyPr>
          <a:lstStyle/>
          <a:p>
            <a:pPr indent="-228600" algn="l">
              <a:buFont typeface="Arial" panose="020B0604020202020204" pitchFamily="34" charset="0"/>
              <a:buChar char="•"/>
            </a:pPr>
            <a:r>
              <a:rPr lang="en-US" sz="1800" b="1" i="0" dirty="0">
                <a:solidFill>
                  <a:srgbClr val="FFFFFF"/>
                </a:solidFill>
                <a:effectLst/>
              </a:rPr>
              <a:t>Just like a painter might create a new painting or a musician might write a new song, generative AI creates new things based on patterns it has learned.</a:t>
            </a:r>
          </a:p>
          <a:p>
            <a:pPr indent="-228600" algn="l">
              <a:buFont typeface="Arial" panose="020B0604020202020204" pitchFamily="34" charset="0"/>
              <a:buChar char="•"/>
            </a:pPr>
            <a:r>
              <a:rPr lang="en-US" sz="1800" b="1" i="0" dirty="0">
                <a:solidFill>
                  <a:srgbClr val="FFFFFF"/>
                </a:solidFill>
                <a:effectLst/>
              </a:rPr>
              <a:t>Think about how you might learn to draw a cat. You might start by looking at a lot of pictures of cats. </a:t>
            </a:r>
          </a:p>
          <a:p>
            <a:pPr indent="-228600" algn="l">
              <a:buFont typeface="Arial" panose="020B0604020202020204" pitchFamily="34" charset="0"/>
              <a:buChar char="•"/>
            </a:pPr>
            <a:r>
              <a:rPr lang="en-US" sz="1800" b="1" i="0" dirty="0">
                <a:solidFill>
                  <a:srgbClr val="FFFFFF"/>
                </a:solidFill>
                <a:effectLst/>
              </a:rPr>
              <a:t>Over time, you start to understand what makes a cat a cat: the shape of the body, the pointy ears, the whiskers, and so on. </a:t>
            </a:r>
          </a:p>
          <a:p>
            <a:pPr indent="-228600" algn="l">
              <a:buFont typeface="Arial" panose="020B0604020202020204" pitchFamily="34" charset="0"/>
              <a:buChar char="•"/>
            </a:pPr>
            <a:r>
              <a:rPr lang="en-US" sz="1800" b="1" i="0" dirty="0">
                <a:solidFill>
                  <a:srgbClr val="FFFFFF"/>
                </a:solidFill>
                <a:effectLst/>
              </a:rPr>
              <a:t>Then, when you’re asked to draw a cat from memory, you use these patterns you’ve learned to create a new picture of a cat. </a:t>
            </a:r>
          </a:p>
          <a:p>
            <a:pPr indent="-228600" algn="l">
              <a:buFont typeface="Arial" panose="020B0604020202020204" pitchFamily="34" charset="0"/>
              <a:buChar char="•"/>
            </a:pPr>
            <a:r>
              <a:rPr lang="en-US" sz="1800" b="1" i="0" dirty="0">
                <a:solidFill>
                  <a:srgbClr val="FFFFFF"/>
                </a:solidFill>
                <a:effectLst/>
              </a:rPr>
              <a:t>It won’t be a perfect copy of any one cat you’ve seen, but a new creation based on the general idea of “cat”. Generative AI works similarly. </a:t>
            </a:r>
          </a:p>
          <a:p>
            <a:pPr indent="-228600" algn="l">
              <a:buFont typeface="Arial" panose="020B0604020202020204" pitchFamily="34" charset="0"/>
              <a:buChar char="•"/>
            </a:pPr>
            <a:r>
              <a:rPr lang="en-US" sz="1800" b="1" i="0" dirty="0">
                <a:solidFill>
                  <a:srgbClr val="FFFFFF"/>
                </a:solidFill>
                <a:effectLst/>
              </a:rPr>
              <a:t>It starts by learning from a lot of examples. These could be images, text, music, or other data. </a:t>
            </a:r>
          </a:p>
          <a:p>
            <a:pPr indent="-228600" algn="l">
              <a:buFont typeface="Arial" panose="020B0604020202020204" pitchFamily="34" charset="0"/>
              <a:buChar char="•"/>
            </a:pPr>
            <a:r>
              <a:rPr lang="en-US" sz="1800" b="1" i="0" dirty="0">
                <a:solidFill>
                  <a:srgbClr val="FFFFFF"/>
                </a:solidFill>
                <a:effectLst/>
              </a:rPr>
              <a:t>The AI analyzes these examples and learns about the patterns and structures that appear in them. </a:t>
            </a:r>
          </a:p>
          <a:p>
            <a:pPr indent="-228600" algn="l">
              <a:buFont typeface="Arial" panose="020B0604020202020204" pitchFamily="34" charset="0"/>
              <a:buChar char="•"/>
            </a:pPr>
            <a:r>
              <a:rPr lang="en-US" sz="1800" b="1" i="0" dirty="0">
                <a:solidFill>
                  <a:srgbClr val="FFFFFF"/>
                </a:solidFill>
                <a:effectLst/>
              </a:rPr>
              <a:t>Once it has learned enough, it can start to generate new examples that are similar to what it has seen before.</a:t>
            </a:r>
          </a:p>
          <a:p>
            <a:pPr indent="-228600" algn="l">
              <a:buFont typeface="Arial" panose="020B0604020202020204" pitchFamily="34" charset="0"/>
              <a:buChar char="•"/>
            </a:pPr>
            <a:r>
              <a:rPr lang="en-US" sz="1800" b="1" i="0" dirty="0">
                <a:solidFill>
                  <a:srgbClr val="FFFFFF"/>
                </a:solidFill>
                <a:effectLst/>
              </a:rPr>
              <a:t>For instance, a generative AI model trained on lots of images of cats could generate a new image that looks like a cat. </a:t>
            </a:r>
          </a:p>
          <a:p>
            <a:pPr indent="-228600" algn="l">
              <a:buFont typeface="Arial" panose="020B0604020202020204" pitchFamily="34" charset="0"/>
              <a:buChar char="•"/>
            </a:pPr>
            <a:r>
              <a:rPr lang="en-US" sz="1800" b="1" dirty="0">
                <a:solidFill>
                  <a:srgbClr val="FFFFFF"/>
                </a:solidFill>
              </a:rPr>
              <a:t>In context of text </a:t>
            </a:r>
            <a:r>
              <a:rPr lang="en-US" sz="1800" b="1" i="0" dirty="0">
                <a:solidFill>
                  <a:srgbClr val="FFFFFF"/>
                </a:solidFill>
                <a:effectLst/>
              </a:rPr>
              <a:t>a model trained on lots of text descriptions could write a new paragraph about a cat that sounds like a human wrote it. The generated content isn’t exact copies of what the AI has seen before but new pieces that fit the patterns it has learned.</a:t>
            </a:r>
          </a:p>
          <a:p>
            <a:pPr indent="-228600" algn="l">
              <a:buFont typeface="Arial" panose="020B0604020202020204" pitchFamily="34" charset="0"/>
              <a:buChar char="•"/>
            </a:pPr>
            <a:r>
              <a:rPr lang="en-US" sz="1800" b="1" i="0" dirty="0">
                <a:solidFill>
                  <a:srgbClr val="FFFFFF"/>
                </a:solidFill>
                <a:effectLst/>
              </a:rPr>
              <a:t>The important point to understand is that the AI is not just copying what it has seen before but creating something new based on the patterns it has learned. That’s why it’s called “generative” AI.</a:t>
            </a:r>
          </a:p>
          <a:p>
            <a:pPr indent="-228600" algn="l">
              <a:buFont typeface="Arial" panose="020B0604020202020204" pitchFamily="34" charset="0"/>
              <a:buChar char="•"/>
            </a:pPr>
            <a:endParaRPr lang="en-US" sz="1800" b="1" dirty="0">
              <a:solidFill>
                <a:srgbClr val="FFFFFF"/>
              </a:solidFill>
            </a:endParaRPr>
          </a:p>
        </p:txBody>
      </p:sp>
      <p:sp>
        <p:nvSpPr>
          <p:cNvPr id="44" name="Rectangle 43">
            <a:extLst>
              <a:ext uri="{FF2B5EF4-FFF2-40B4-BE49-F238E27FC236}">
                <a16:creationId xmlns:a16="http://schemas.microsoft.com/office/drawing/2014/main" id="{1F0DF0F3-0179-4A8A-92E0-932C473DA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89" y="13127"/>
            <a:ext cx="3620804" cy="6387672"/>
          </a:xfrm>
          <a:prstGeom prst="rect">
            <a:avLst/>
          </a:prstGeom>
          <a:gradFill>
            <a:gsLst>
              <a:gs pos="25000">
                <a:schemeClr val="accent1">
                  <a:lumMod val="75000"/>
                  <a:alpha val="0"/>
                </a:schemeClr>
              </a:gs>
              <a:gs pos="100000">
                <a:srgbClr val="000000">
                  <a:alpha val="50000"/>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42046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1706880" y="1"/>
            <a:ext cx="10482072" cy="853439"/>
          </a:xfrm>
        </p:spPr>
        <p:txBody>
          <a:bodyPr vert="horz" lIns="91440" tIns="45720" rIns="91440" bIns="45720" rtlCol="0" anchor="ctr">
            <a:noAutofit/>
          </a:bodyPr>
          <a:lstStyle/>
          <a:p>
            <a:r>
              <a:rPr lang="en-US" sz="2800" b="1" dirty="0">
                <a:highlight>
                  <a:srgbClr val="00FFFF"/>
                </a:highlight>
              </a:rPr>
              <a:t>Generative AI works with 2 key features – </a:t>
            </a:r>
            <a:br>
              <a:rPr lang="en-US" sz="2800" b="1" dirty="0">
                <a:highlight>
                  <a:srgbClr val="00FFFF"/>
                </a:highlight>
              </a:rPr>
            </a:br>
            <a:r>
              <a:rPr lang="en-US" sz="2800" b="1" dirty="0">
                <a:highlight>
                  <a:srgbClr val="00FFFF"/>
                </a:highlight>
              </a:rPr>
              <a:t>GAN (Generative Adversarial Network) &amp; VAE(Various Autoencoders)</a:t>
            </a:r>
          </a:p>
        </p:txBody>
      </p:sp>
      <p:pic>
        <p:nvPicPr>
          <p:cNvPr id="16" name="Picture 15">
            <a:extLst>
              <a:ext uri="{FF2B5EF4-FFF2-40B4-BE49-F238E27FC236}">
                <a16:creationId xmlns:a16="http://schemas.microsoft.com/office/drawing/2014/main" id="{90BE7CDF-0448-5CA8-0536-02B03518A2B6}"/>
              </a:ext>
            </a:extLst>
          </p:cNvPr>
          <p:cNvPicPr>
            <a:picLocks noChangeAspect="1"/>
          </p:cNvPicPr>
          <p:nvPr/>
        </p:nvPicPr>
        <p:blipFill rotWithShape="1">
          <a:blip r:embed="rId2"/>
          <a:srcRect l="14674" r="26461" b="-1"/>
          <a:stretch/>
        </p:blipFill>
        <p:spPr>
          <a:xfrm>
            <a:off x="21" y="10"/>
            <a:ext cx="156461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1564640" y="853440"/>
            <a:ext cx="10627360" cy="6004550"/>
          </a:xfrm>
        </p:spPr>
        <p:txBody>
          <a:bodyPr vert="horz" lIns="91440" tIns="45720" rIns="91440" bIns="45720" rtlCol="0">
            <a:noAutofit/>
          </a:bodyPr>
          <a:lstStyle/>
          <a:p>
            <a:pPr indent="-228600" algn="l">
              <a:buFont typeface="Arial" panose="020B0604020202020204" pitchFamily="34" charset="0"/>
              <a:buChar char="•"/>
            </a:pPr>
            <a:r>
              <a:rPr lang="en-US" sz="1600" b="1" i="0" dirty="0">
                <a:effectLst/>
              </a:rPr>
              <a:t>GANs, or Generative Adversarial Networks, are a class of machine learning models. </a:t>
            </a:r>
          </a:p>
          <a:p>
            <a:pPr indent="-228600" algn="l">
              <a:buFont typeface="Arial" panose="020B0604020202020204" pitchFamily="34" charset="0"/>
              <a:buChar char="•"/>
            </a:pPr>
            <a:r>
              <a:rPr lang="en-US" sz="1600" b="1" i="0" dirty="0">
                <a:effectLst/>
              </a:rPr>
              <a:t>GANs are widely used for generative tasks, such as image synthesis, style transfer, and data augmentation. </a:t>
            </a:r>
          </a:p>
          <a:p>
            <a:pPr indent="-228600" algn="l">
              <a:buFont typeface="Arial" panose="020B0604020202020204" pitchFamily="34" charset="0"/>
              <a:buChar char="•"/>
            </a:pPr>
            <a:r>
              <a:rPr lang="en-US" sz="1600" b="1" i="0" dirty="0">
                <a:effectLst/>
              </a:rPr>
              <a:t>The key idea behind GANs is to have two neural networks, a generator, and a discriminator, that are trained together through adversarial training. Here's an overview of how GANs work:</a:t>
            </a:r>
          </a:p>
          <a:p>
            <a:pPr indent="-228600" algn="l">
              <a:buFont typeface="Arial" panose="020B0604020202020204" pitchFamily="34" charset="0"/>
              <a:buChar char="•"/>
            </a:pPr>
            <a:r>
              <a:rPr lang="en-US" sz="1600" b="1" i="0" dirty="0">
                <a:effectLst/>
                <a:highlight>
                  <a:srgbClr val="00FFFF"/>
                </a:highlight>
              </a:rPr>
              <a:t>Generator (G):</a:t>
            </a:r>
          </a:p>
          <a:p>
            <a:pPr marL="742950" lvl="1" indent="-228600" algn="l">
              <a:buFont typeface="Arial" panose="020B0604020202020204" pitchFamily="34" charset="0"/>
              <a:buChar char="•"/>
            </a:pPr>
            <a:r>
              <a:rPr lang="en-US" sz="1600" b="1" i="0" dirty="0">
                <a:effectLst/>
              </a:rPr>
              <a:t>The generator takes random noise as input and generates samples that ideally resemble the data in the training set. It tries to create realistic data.</a:t>
            </a:r>
          </a:p>
          <a:p>
            <a:pPr indent="-228600" algn="l">
              <a:buFont typeface="Arial" panose="020B0604020202020204" pitchFamily="34" charset="0"/>
              <a:buChar char="•"/>
            </a:pPr>
            <a:r>
              <a:rPr lang="en-US" sz="1600" b="1" i="0" dirty="0">
                <a:effectLst/>
                <a:highlight>
                  <a:srgbClr val="00FFFF"/>
                </a:highlight>
              </a:rPr>
              <a:t>Discriminator (D):</a:t>
            </a:r>
          </a:p>
          <a:p>
            <a:pPr marL="742950" lvl="1" indent="-228600" algn="l">
              <a:buFont typeface="Arial" panose="020B0604020202020204" pitchFamily="34" charset="0"/>
              <a:buChar char="•"/>
            </a:pPr>
            <a:r>
              <a:rPr lang="en-US" sz="1600" b="1" i="0" dirty="0">
                <a:effectLst/>
              </a:rPr>
              <a:t>The discriminator is a separate neural network that evaluates whether a given input is real (from the training data) or fake (generated by the generator). It acts like a binary classifier.</a:t>
            </a:r>
          </a:p>
          <a:p>
            <a:pPr indent="-228600" algn="l">
              <a:buFont typeface="Arial" panose="020B0604020202020204" pitchFamily="34" charset="0"/>
              <a:buChar char="•"/>
            </a:pPr>
            <a:r>
              <a:rPr lang="en-US" sz="1600" b="1" i="0" dirty="0">
                <a:effectLst/>
                <a:highlight>
                  <a:srgbClr val="00FFFF"/>
                </a:highlight>
              </a:rPr>
              <a:t>Adversarial Training:</a:t>
            </a:r>
          </a:p>
          <a:p>
            <a:pPr marL="742950" lvl="1" indent="-228600" algn="l">
              <a:buFont typeface="Arial" panose="020B0604020202020204" pitchFamily="34" charset="0"/>
              <a:buChar char="•"/>
            </a:pPr>
            <a:r>
              <a:rPr lang="en-US" sz="1600" b="1" i="0" dirty="0">
                <a:effectLst/>
              </a:rPr>
              <a:t>The generator and discriminator are trained simultaneously in a competitive manner. The generator aims to produce data that is indistinguishable from real data, while the discriminator aims to correctly classify whether an input is real or generated.</a:t>
            </a:r>
          </a:p>
          <a:p>
            <a:pPr indent="-228600" algn="l">
              <a:buFont typeface="Arial" panose="020B0604020202020204" pitchFamily="34" charset="0"/>
              <a:buChar char="•"/>
            </a:pPr>
            <a:r>
              <a:rPr lang="en-US" sz="1600" b="1" i="0" dirty="0">
                <a:effectLst/>
                <a:highlight>
                  <a:srgbClr val="00FFFF"/>
                </a:highlight>
              </a:rPr>
              <a:t>Training Process:</a:t>
            </a:r>
          </a:p>
          <a:p>
            <a:pPr marL="742950" lvl="1" indent="-228600" algn="l">
              <a:buFont typeface="Arial" panose="020B0604020202020204" pitchFamily="34" charset="0"/>
              <a:buChar char="•"/>
            </a:pPr>
            <a:r>
              <a:rPr lang="en-US" sz="1600" b="1" i="0" dirty="0">
                <a:effectLst/>
              </a:rPr>
              <a:t>During training, the generator improves its ability to generate realistic data by receiving feedback from the discriminator. Simultaneously, the discriminator improves its ability to distinguish between real and generated data.</a:t>
            </a:r>
          </a:p>
          <a:p>
            <a:pPr marL="742950" lvl="1" indent="-228600" algn="l">
              <a:buFont typeface="Arial" panose="020B0604020202020204" pitchFamily="34" charset="0"/>
              <a:buChar char="•"/>
            </a:pPr>
            <a:endParaRPr lang="en-US" sz="1600" b="1" dirty="0"/>
          </a:p>
          <a:p>
            <a:pPr marL="514350" lvl="1" algn="l"/>
            <a:r>
              <a:rPr lang="en-US" sz="1600" b="1" i="0" dirty="0">
                <a:effectLst/>
              </a:rPr>
              <a:t>GANs have been successful in generating high-quality images, creating art, and even producing deepfake videos. They are versatile and can be adapted for various generative tasks, but training GANs can be challenging and requires careful tuning of hyperparameters.</a:t>
            </a:r>
          </a:p>
          <a:p>
            <a:pPr indent="-228600" algn="l">
              <a:buFont typeface="Arial" panose="020B0604020202020204" pitchFamily="34" charset="0"/>
              <a:buChar char="•"/>
            </a:pPr>
            <a:endParaRPr lang="en-US" sz="1600" b="1" dirty="0"/>
          </a:p>
          <a:p>
            <a:pPr indent="-228600" algn="l">
              <a:buFont typeface="Arial" panose="020B0604020202020204" pitchFamily="34" charset="0"/>
              <a:buChar char="•"/>
            </a:pPr>
            <a:endParaRPr lang="en-US" sz="1600" b="1" dirty="0"/>
          </a:p>
        </p:txBody>
      </p:sp>
    </p:spTree>
    <p:extLst>
      <p:ext uri="{BB962C8B-B14F-4D97-AF65-F5344CB8AC3E}">
        <p14:creationId xmlns:p14="http://schemas.microsoft.com/office/powerpoint/2010/main" val="1214333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805E9D19-7149-83D6-9E8C-4A8F423CE865}"/>
              </a:ext>
            </a:extLst>
          </p:cNvPr>
          <p:cNvPicPr>
            <a:picLocks noChangeAspect="1"/>
          </p:cNvPicPr>
          <p:nvPr/>
        </p:nvPicPr>
        <p:blipFill rotWithShape="1">
          <a:blip r:embed="rId2"/>
          <a:srcRect t="18677" r="1" b="3196"/>
          <a:stretch/>
        </p:blipFill>
        <p:spPr>
          <a:xfrm>
            <a:off x="8382764" y="10"/>
            <a:ext cx="3809236" cy="6857990"/>
          </a:xfrm>
          <a:prstGeom prst="rect">
            <a:avLst/>
          </a:prstGeom>
        </p:spPr>
      </p:pic>
      <p:sp>
        <p:nvSpPr>
          <p:cNvPr id="42" name="Rectangle 41">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91440" y="81280"/>
            <a:ext cx="3717798" cy="587489"/>
          </a:xfrm>
        </p:spPr>
        <p:txBody>
          <a:bodyPr vert="horz" lIns="91440" tIns="45720" rIns="91440" bIns="45720" rtlCol="0" anchor="b">
            <a:noAutofit/>
          </a:bodyPr>
          <a:lstStyle/>
          <a:p>
            <a:r>
              <a:rPr lang="en-US" sz="4000" b="1" dirty="0">
                <a:solidFill>
                  <a:schemeClr val="bg1"/>
                </a:solidFill>
              </a:rPr>
              <a:t>AUTOENCODERS </a:t>
            </a:r>
          </a:p>
        </p:txBody>
      </p:sp>
      <p:sp>
        <p:nvSpPr>
          <p:cNvPr id="44" name="Rectangle 4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6" name="Rectangle 4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0" y="843534"/>
            <a:ext cx="8382764" cy="6014466"/>
          </a:xfrm>
        </p:spPr>
        <p:txBody>
          <a:bodyPr vert="horz" lIns="91440" tIns="45720" rIns="91440" bIns="45720" rtlCol="0" anchor="t">
            <a:noAutofit/>
          </a:bodyPr>
          <a:lstStyle/>
          <a:p>
            <a:pPr indent="-228600" algn="l">
              <a:buFont typeface="Arial" panose="020B0604020202020204" pitchFamily="34" charset="0"/>
              <a:buChar char="•"/>
            </a:pPr>
            <a:r>
              <a:rPr lang="en-US" sz="1800" b="1" i="0" dirty="0">
                <a:solidFill>
                  <a:schemeClr val="bg1"/>
                </a:solidFill>
                <a:effectLst/>
              </a:rPr>
              <a:t>An autoencoder is a type of artificial neural network used for unsupervised learning. It is designed to encode the input data into a lower-dimensional representation and then decode it back to the original data. The primary objective is to learn an efficient and compressed representation of the input data.</a:t>
            </a:r>
          </a:p>
          <a:p>
            <a:pPr indent="-228600" algn="l">
              <a:buFont typeface="Arial" panose="020B0604020202020204" pitchFamily="34" charset="0"/>
              <a:buChar char="•"/>
            </a:pPr>
            <a:r>
              <a:rPr lang="en-US" sz="1800" b="1" i="0" dirty="0">
                <a:solidFill>
                  <a:schemeClr val="bg1"/>
                </a:solidFill>
                <a:effectLst/>
              </a:rPr>
              <a:t>The basic structure of an autoencoder consists of two main components:</a:t>
            </a:r>
          </a:p>
          <a:p>
            <a:pPr indent="-228600" algn="l">
              <a:buFont typeface="Arial" panose="020B0604020202020204" pitchFamily="34" charset="0"/>
              <a:buChar char="•"/>
            </a:pPr>
            <a:r>
              <a:rPr lang="en-US" sz="1800" b="1" i="0" dirty="0">
                <a:solidFill>
                  <a:schemeClr val="bg1"/>
                </a:solidFill>
                <a:effectLst/>
              </a:rPr>
              <a:t>Encoder:</a:t>
            </a:r>
          </a:p>
          <a:p>
            <a:pPr lvl="1" indent="-228600" algn="l">
              <a:buFont typeface="Arial" panose="020B0604020202020204" pitchFamily="34" charset="0"/>
              <a:buChar char="•"/>
            </a:pPr>
            <a:r>
              <a:rPr lang="en-US" sz="1800" b="1" i="0" dirty="0">
                <a:solidFill>
                  <a:schemeClr val="bg1"/>
                </a:solidFill>
                <a:effectLst/>
              </a:rPr>
              <a:t>The encoder maps the input data into a lower-dimensional representation, often referred to as the "encoding" or "latent space." This process involves reducing the dimensionality of the input data, capturing its essential features.</a:t>
            </a:r>
          </a:p>
          <a:p>
            <a:pPr indent="-228600" algn="l">
              <a:buFont typeface="Arial" panose="020B0604020202020204" pitchFamily="34" charset="0"/>
              <a:buChar char="•"/>
            </a:pPr>
            <a:r>
              <a:rPr lang="en-US" sz="1800" b="1" i="0" dirty="0">
                <a:solidFill>
                  <a:schemeClr val="bg1"/>
                </a:solidFill>
                <a:effectLst/>
              </a:rPr>
              <a:t>Decoder:</a:t>
            </a:r>
          </a:p>
          <a:p>
            <a:pPr lvl="1" indent="-228600" algn="l">
              <a:buFont typeface="Arial" panose="020B0604020202020204" pitchFamily="34" charset="0"/>
              <a:buChar char="•"/>
            </a:pPr>
            <a:r>
              <a:rPr lang="en-US" sz="1800" b="1" i="0" dirty="0">
                <a:solidFill>
                  <a:schemeClr val="bg1"/>
                </a:solidFill>
                <a:effectLst/>
              </a:rPr>
              <a:t>The decoder takes the encoded representation and reconstructs the original input data from it. The decoder's goal is to generate an output that closely matches the input.</a:t>
            </a:r>
          </a:p>
          <a:p>
            <a:pPr indent="-228600" algn="l">
              <a:buFont typeface="Arial" panose="020B0604020202020204" pitchFamily="34" charset="0"/>
              <a:buChar char="•"/>
            </a:pPr>
            <a:r>
              <a:rPr lang="en-US" sz="1800" b="1" i="0" dirty="0">
                <a:solidFill>
                  <a:schemeClr val="bg1"/>
                </a:solidFill>
                <a:effectLst/>
              </a:rPr>
              <a:t>The training process of an autoencoder involves minimizing the difference between the input data and the reconstructed output. This is typically done by using a loss function that measures the reconstruction error, such as mean squared error (MSE) for continuous data or binary cross-entropy for binary data.</a:t>
            </a:r>
          </a:p>
          <a:p>
            <a:pPr indent="-228600" algn="l">
              <a:buFont typeface="Arial" panose="020B0604020202020204" pitchFamily="34" charset="0"/>
              <a:buChar char="•"/>
            </a:pPr>
            <a:r>
              <a:rPr lang="en-US" sz="1800" b="1" i="0" dirty="0">
                <a:solidFill>
                  <a:schemeClr val="bg1"/>
                </a:solidFill>
                <a:effectLst/>
              </a:rPr>
              <a:t>The autoencoder's hidden layer (the encoded representation) serves as a compressed and abstract representation of the input data. This encoding can be used for various purposes, including data compression, feature learning, denoising, and anomaly detection.</a:t>
            </a:r>
          </a:p>
          <a:p>
            <a:pPr indent="-228600" algn="l">
              <a:buFont typeface="Arial" panose="020B0604020202020204" pitchFamily="34" charset="0"/>
              <a:buChar char="•"/>
            </a:pPr>
            <a:endParaRPr lang="en-US" sz="1800" b="1" dirty="0">
              <a:solidFill>
                <a:schemeClr val="bg1"/>
              </a:solidFill>
            </a:endParaRPr>
          </a:p>
        </p:txBody>
      </p:sp>
    </p:spTree>
    <p:extLst>
      <p:ext uri="{BB962C8B-B14F-4D97-AF65-F5344CB8AC3E}">
        <p14:creationId xmlns:p14="http://schemas.microsoft.com/office/powerpoint/2010/main" val="3509691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2458721" y="-1"/>
            <a:ext cx="8839200" cy="487681"/>
          </a:xfrm>
        </p:spPr>
        <p:txBody>
          <a:bodyPr vert="horz" lIns="91440" tIns="45720" rIns="91440" bIns="45720" rtlCol="0" anchor="ctr">
            <a:normAutofit fontScale="90000"/>
          </a:bodyPr>
          <a:lstStyle/>
          <a:p>
            <a:r>
              <a:rPr lang="en-US" sz="3600" b="1" dirty="0">
                <a:highlight>
                  <a:srgbClr val="00FFFF"/>
                </a:highlight>
              </a:rPr>
              <a:t>SEVERAL TYPES OF AUTOENCODERS</a:t>
            </a:r>
          </a:p>
        </p:txBody>
      </p:sp>
      <p:pic>
        <p:nvPicPr>
          <p:cNvPr id="5" name="Picture 4">
            <a:extLst>
              <a:ext uri="{FF2B5EF4-FFF2-40B4-BE49-F238E27FC236}">
                <a16:creationId xmlns:a16="http://schemas.microsoft.com/office/drawing/2014/main" id="{15EEED0C-FF5D-BFEA-FCD1-07DDB93923A5}"/>
              </a:ext>
            </a:extLst>
          </p:cNvPr>
          <p:cNvPicPr>
            <a:picLocks noChangeAspect="1"/>
          </p:cNvPicPr>
          <p:nvPr/>
        </p:nvPicPr>
        <p:blipFill rotWithShape="1">
          <a:blip r:embed="rId2"/>
          <a:srcRect l="49581" r="12800" b="1"/>
          <a:stretch/>
        </p:blipFill>
        <p:spPr>
          <a:xfrm>
            <a:off x="21" y="-1"/>
            <a:ext cx="497820" cy="6856413"/>
          </a:xfrm>
          <a:custGeom>
            <a:avLst/>
            <a:gdLst/>
            <a:ahLst/>
            <a:cxnLst/>
            <a:rect l="l" t="t" r="r" b="b"/>
            <a:pathLst>
              <a:path w="4143564" h="6856413">
                <a:moveTo>
                  <a:pt x="0" y="0"/>
                </a:moveTo>
                <a:lnTo>
                  <a:pt x="4141667" y="0"/>
                </a:lnTo>
                <a:lnTo>
                  <a:pt x="4141086" y="145208"/>
                </a:lnTo>
                <a:cubicBezTo>
                  <a:pt x="4109790" y="1611281"/>
                  <a:pt x="3796834" y="3077353"/>
                  <a:pt x="4047199" y="4543426"/>
                </a:cubicBezTo>
                <a:cubicBezTo>
                  <a:pt x="4172382" y="5276463"/>
                  <a:pt x="4156734" y="6009499"/>
                  <a:pt x="4105878" y="6742536"/>
                </a:cubicBezTo>
                <a:lnTo>
                  <a:pt x="4096763" y="6856413"/>
                </a:lnTo>
                <a:lnTo>
                  <a:pt x="0" y="6856413"/>
                </a:lnTo>
                <a:close/>
              </a:path>
            </a:pathLst>
          </a:custGeom>
        </p:spPr>
      </p:pic>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497842" y="647700"/>
            <a:ext cx="11694138" cy="6210300"/>
          </a:xfrm>
        </p:spPr>
        <p:txBody>
          <a:bodyPr vert="horz" lIns="91440" tIns="45720" rIns="91440" bIns="45720" rtlCol="0" anchor="ctr">
            <a:noAutofit/>
          </a:bodyPr>
          <a:lstStyle/>
          <a:p>
            <a:pPr indent="-228600" algn="l">
              <a:buFont typeface="Arial" panose="020B0604020202020204" pitchFamily="34" charset="0"/>
              <a:buChar char="•"/>
            </a:pPr>
            <a:r>
              <a:rPr lang="en-US" sz="1400" b="1" i="0" dirty="0">
                <a:effectLst/>
                <a:highlight>
                  <a:srgbClr val="00FFFF"/>
                </a:highlight>
              </a:rPr>
              <a:t>Vanilla Autoencoder:</a:t>
            </a:r>
          </a:p>
          <a:p>
            <a:pPr marL="742950" lvl="1" indent="-228600" algn="l">
              <a:buFont typeface="Arial" panose="020B0604020202020204" pitchFamily="34" charset="0"/>
              <a:buChar char="•"/>
            </a:pPr>
            <a:r>
              <a:rPr lang="en-US" sz="1400" b="1" i="0" dirty="0">
                <a:effectLst/>
              </a:rPr>
              <a:t>The basic form of an autoencoder consists of an encoder and a decoder. It aims to learn a compressed representation of the input data.</a:t>
            </a:r>
          </a:p>
          <a:p>
            <a:pPr indent="-228600" algn="l">
              <a:buFont typeface="Arial" panose="020B0604020202020204" pitchFamily="34" charset="0"/>
              <a:buChar char="•"/>
            </a:pPr>
            <a:r>
              <a:rPr lang="en-US" sz="1400" b="1" i="0" dirty="0">
                <a:effectLst/>
                <a:highlight>
                  <a:srgbClr val="00FFFF"/>
                </a:highlight>
              </a:rPr>
              <a:t>Variational Autoencoder (VAE):</a:t>
            </a:r>
          </a:p>
          <a:p>
            <a:pPr marL="742950" lvl="1" indent="-228600" algn="l">
              <a:buFont typeface="Arial" panose="020B0604020202020204" pitchFamily="34" charset="0"/>
              <a:buChar char="•"/>
            </a:pPr>
            <a:r>
              <a:rPr lang="en-US" sz="1400" b="1" i="0" dirty="0">
                <a:effectLst/>
              </a:rPr>
              <a:t>Introduces a probabilistic approach to encoding data, generating a latent space with a meaningful structure. It is often used for generating new data points.</a:t>
            </a:r>
          </a:p>
          <a:p>
            <a:pPr indent="-228600" algn="l">
              <a:buFont typeface="Arial" panose="020B0604020202020204" pitchFamily="34" charset="0"/>
              <a:buChar char="•"/>
            </a:pPr>
            <a:r>
              <a:rPr lang="en-US" sz="1400" b="1" i="0" dirty="0">
                <a:effectLst/>
                <a:highlight>
                  <a:srgbClr val="00FFFF"/>
                </a:highlight>
              </a:rPr>
              <a:t>Sparse Autoencoder:</a:t>
            </a:r>
          </a:p>
          <a:p>
            <a:pPr marL="742950" lvl="1" indent="-228600" algn="l">
              <a:buFont typeface="Arial" panose="020B0604020202020204" pitchFamily="34" charset="0"/>
              <a:buChar char="•"/>
            </a:pPr>
            <a:r>
              <a:rPr lang="en-US" sz="1400" b="1" i="0" dirty="0">
                <a:effectLst/>
              </a:rPr>
              <a:t>Enforces sparsity in the learned representation, meaning that only a small number of neurons in the hidden layer are activated for any given input.</a:t>
            </a:r>
          </a:p>
          <a:p>
            <a:pPr indent="-228600" algn="l">
              <a:buFont typeface="Arial" panose="020B0604020202020204" pitchFamily="34" charset="0"/>
              <a:buChar char="•"/>
            </a:pPr>
            <a:r>
              <a:rPr lang="en-US" sz="1400" b="1" i="0" dirty="0">
                <a:effectLst/>
                <a:highlight>
                  <a:srgbClr val="00FFFF"/>
                </a:highlight>
              </a:rPr>
              <a:t>Denoising Autoencoder:</a:t>
            </a:r>
          </a:p>
          <a:p>
            <a:pPr marL="742950" lvl="1" indent="-228600" algn="l">
              <a:buFont typeface="Arial" panose="020B0604020202020204" pitchFamily="34" charset="0"/>
              <a:buChar char="•"/>
            </a:pPr>
            <a:r>
              <a:rPr lang="en-US" sz="1400" b="1" i="0" dirty="0">
                <a:effectLst/>
              </a:rPr>
              <a:t>Trains the model to reconstruct the original data from a corrupted or noisy version of the input, helping it learn more robust representations.</a:t>
            </a:r>
          </a:p>
          <a:p>
            <a:pPr indent="-228600" algn="l">
              <a:buFont typeface="Arial" panose="020B0604020202020204" pitchFamily="34" charset="0"/>
              <a:buChar char="•"/>
            </a:pPr>
            <a:r>
              <a:rPr lang="en-US" sz="1400" b="1" i="0" dirty="0">
                <a:effectLst/>
                <a:highlight>
                  <a:srgbClr val="00FFFF"/>
                </a:highlight>
              </a:rPr>
              <a:t>Contractive Autoencoder:</a:t>
            </a:r>
          </a:p>
          <a:p>
            <a:pPr marL="742950" lvl="1" indent="-228600" algn="l">
              <a:buFont typeface="Arial" panose="020B0604020202020204" pitchFamily="34" charset="0"/>
              <a:buChar char="•"/>
            </a:pPr>
            <a:r>
              <a:rPr lang="en-US" sz="1400" b="1" i="0" dirty="0">
                <a:effectLst/>
              </a:rPr>
              <a:t>Adds a penalty term to the loss function that discourages the encoding from being sensitive to small variations in the input data.</a:t>
            </a:r>
          </a:p>
          <a:p>
            <a:pPr indent="-228600" algn="l">
              <a:buFont typeface="Arial" panose="020B0604020202020204" pitchFamily="34" charset="0"/>
              <a:buChar char="•"/>
            </a:pPr>
            <a:r>
              <a:rPr lang="en-US" sz="1400" b="1" i="0" dirty="0">
                <a:effectLst/>
                <a:highlight>
                  <a:srgbClr val="00FFFF"/>
                </a:highlight>
              </a:rPr>
              <a:t>Stacked Autoencoder:</a:t>
            </a:r>
          </a:p>
          <a:p>
            <a:pPr marL="742950" lvl="1" indent="-228600" algn="l">
              <a:buFont typeface="Arial" panose="020B0604020202020204" pitchFamily="34" charset="0"/>
              <a:buChar char="•"/>
            </a:pPr>
            <a:r>
              <a:rPr lang="en-US" sz="1400" b="1" i="0" dirty="0">
                <a:effectLst/>
              </a:rPr>
              <a:t>Comprises multiple layers of autoencoders, creating a deep architecture. It can be used for learning hierarchical representations.</a:t>
            </a:r>
          </a:p>
          <a:p>
            <a:pPr indent="-228600" algn="l">
              <a:buFont typeface="Arial" panose="020B0604020202020204" pitchFamily="34" charset="0"/>
              <a:buChar char="•"/>
            </a:pPr>
            <a:r>
              <a:rPr lang="en-US" sz="1400" b="1" i="0" dirty="0">
                <a:effectLst/>
                <a:highlight>
                  <a:srgbClr val="00FFFF"/>
                </a:highlight>
              </a:rPr>
              <a:t>Convolutional Autoencoder:</a:t>
            </a:r>
          </a:p>
          <a:p>
            <a:pPr marL="742950" lvl="1" indent="-228600" algn="l">
              <a:buFont typeface="Arial" panose="020B0604020202020204" pitchFamily="34" charset="0"/>
              <a:buChar char="•"/>
            </a:pPr>
            <a:r>
              <a:rPr lang="en-US" sz="1400" b="1" i="0" dirty="0">
                <a:effectLst/>
              </a:rPr>
              <a:t>Utilizes convolutional layers in both the encoder and decoder, making it suitable for image-related tasks.</a:t>
            </a:r>
          </a:p>
          <a:p>
            <a:pPr indent="-228600" algn="l">
              <a:buFont typeface="Arial" panose="020B0604020202020204" pitchFamily="34" charset="0"/>
              <a:buChar char="•"/>
            </a:pPr>
            <a:r>
              <a:rPr lang="en-US" sz="1400" b="1" i="0" dirty="0">
                <a:effectLst/>
                <a:highlight>
                  <a:srgbClr val="00FFFF"/>
                </a:highlight>
              </a:rPr>
              <a:t>Recurrent Autoencoder:</a:t>
            </a:r>
          </a:p>
          <a:p>
            <a:pPr marL="742950" lvl="1" indent="-228600" algn="l">
              <a:buFont typeface="Arial" panose="020B0604020202020204" pitchFamily="34" charset="0"/>
              <a:buChar char="•"/>
            </a:pPr>
            <a:r>
              <a:rPr lang="en-US" sz="1400" b="1" i="0" dirty="0">
                <a:effectLst/>
              </a:rPr>
              <a:t>Applies recurrent neural networks in the encoder and decoder, making it suitable for sequential data like time series or text.</a:t>
            </a:r>
          </a:p>
          <a:p>
            <a:pPr indent="-228600" algn="l">
              <a:buFont typeface="Arial" panose="020B0604020202020204" pitchFamily="34" charset="0"/>
              <a:buChar char="•"/>
            </a:pPr>
            <a:r>
              <a:rPr lang="en-US" sz="1400" b="1" i="0" dirty="0">
                <a:effectLst/>
                <a:highlight>
                  <a:srgbClr val="00FFFF"/>
                </a:highlight>
              </a:rPr>
              <a:t>Adversarial Autoencoder (AAE):</a:t>
            </a:r>
          </a:p>
          <a:p>
            <a:pPr marL="742950" lvl="1" indent="-228600" algn="l">
              <a:buFont typeface="Arial" panose="020B0604020202020204" pitchFamily="34" charset="0"/>
              <a:buChar char="•"/>
            </a:pPr>
            <a:r>
              <a:rPr lang="en-US" sz="1400" b="1" i="0" dirty="0">
                <a:effectLst/>
              </a:rPr>
              <a:t>Combines the principles of autoencoders and GANs. It includes a generator and a discriminator to improve the quality of the generated samples.</a:t>
            </a:r>
          </a:p>
          <a:p>
            <a:pPr indent="-228600" algn="l">
              <a:buFont typeface="Arial" panose="020B0604020202020204" pitchFamily="34" charset="0"/>
              <a:buChar char="•"/>
            </a:pPr>
            <a:r>
              <a:rPr lang="en-US" sz="1400" b="1" i="0" dirty="0">
                <a:effectLst/>
                <a:highlight>
                  <a:srgbClr val="00FFFF"/>
                </a:highlight>
              </a:rPr>
              <a:t>Conditional Variational Autoencoder (CVAE):</a:t>
            </a:r>
          </a:p>
          <a:p>
            <a:pPr marL="742950" lvl="1" indent="-228600" algn="l">
              <a:buFont typeface="Arial" panose="020B0604020202020204" pitchFamily="34" charset="0"/>
              <a:buChar char="•"/>
            </a:pPr>
            <a:r>
              <a:rPr lang="en-US" sz="1400" b="1" i="0" dirty="0">
                <a:effectLst/>
              </a:rPr>
              <a:t>Extends VAEs to handle conditional generation, allowing the generation of samples conditioned on specific input conditions.</a:t>
            </a:r>
          </a:p>
          <a:p>
            <a:pPr indent="-228600" algn="l">
              <a:buFont typeface="Arial" panose="020B0604020202020204" pitchFamily="34" charset="0"/>
              <a:buChar char="•"/>
            </a:pPr>
            <a:r>
              <a:rPr lang="en-US" sz="1400" b="1" i="0" dirty="0">
                <a:effectLst/>
              </a:rPr>
              <a:t>The choice of the autoencoder depends on the characteristics of the data and the goals of the specific application.</a:t>
            </a:r>
          </a:p>
          <a:p>
            <a:pPr indent="-228600" algn="l">
              <a:buFont typeface="Arial" panose="020B0604020202020204" pitchFamily="34" charset="0"/>
              <a:buChar char="•"/>
            </a:pPr>
            <a:endParaRPr lang="en-US" sz="1400" b="1" dirty="0"/>
          </a:p>
        </p:txBody>
      </p:sp>
    </p:spTree>
    <p:extLst>
      <p:ext uri="{BB962C8B-B14F-4D97-AF65-F5344CB8AC3E}">
        <p14:creationId xmlns:p14="http://schemas.microsoft.com/office/powerpoint/2010/main" val="1245597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876691" y="301843"/>
            <a:ext cx="10477109" cy="1003532"/>
          </a:xfrm>
        </p:spPr>
        <p:txBody>
          <a:bodyPr vert="horz" lIns="91440" tIns="45720" rIns="91440" bIns="45720" rtlCol="0" anchor="ctr">
            <a:normAutofit/>
          </a:bodyPr>
          <a:lstStyle/>
          <a:p>
            <a:pPr algn="l"/>
            <a:r>
              <a:rPr lang="en-US" sz="4800" b="1" kern="1200">
                <a:solidFill>
                  <a:srgbClr val="FFFFFF"/>
                </a:solidFill>
                <a:latin typeface="+mj-lt"/>
                <a:ea typeface="+mj-ea"/>
                <a:cs typeface="+mj-cs"/>
              </a:rPr>
              <a:t>GENERATIVE AI MODELS </a:t>
            </a:r>
            <a:endParaRPr lang="en-US" sz="4800" b="1" kern="1200" dirty="0">
              <a:solidFill>
                <a:srgbClr val="FFFFFF"/>
              </a:solidFill>
              <a:latin typeface="+mj-lt"/>
              <a:ea typeface="+mj-ea"/>
              <a:cs typeface="+mj-cs"/>
            </a:endParaRP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81280" y="1495701"/>
            <a:ext cx="12120894" cy="5362299"/>
          </a:xfrm>
        </p:spPr>
        <p:txBody>
          <a:bodyPr vert="horz" lIns="91440" tIns="45720" rIns="91440" bIns="45720" rtlCol="0">
            <a:normAutofit/>
          </a:bodyPr>
          <a:lstStyle/>
          <a:p>
            <a:pPr indent="-228600" algn="l">
              <a:buFont typeface="Arial" panose="020B0604020202020204" pitchFamily="34" charset="0"/>
              <a:buChar char="•"/>
            </a:pPr>
            <a:r>
              <a:rPr lang="en-US" sz="1600" b="0" i="0" dirty="0">
                <a:effectLst/>
              </a:rPr>
              <a:t>For the generative AI tools that many people commonly use today, there are two main models: text-based and multimodal.</a:t>
            </a:r>
          </a:p>
          <a:p>
            <a:pPr algn="l"/>
            <a:r>
              <a:rPr lang="en-US" sz="1600" b="1" i="0" dirty="0">
                <a:effectLst/>
                <a:highlight>
                  <a:srgbClr val="00FFFF"/>
                </a:highlight>
              </a:rPr>
              <a:t>Text Models</a:t>
            </a:r>
          </a:p>
          <a:p>
            <a:pPr indent="-228600" algn="l">
              <a:buFont typeface="Arial" panose="020B0604020202020204" pitchFamily="34" charset="0"/>
              <a:buChar char="•"/>
            </a:pPr>
            <a:r>
              <a:rPr lang="en-US" sz="1600" b="0" i="0" dirty="0">
                <a:effectLst/>
              </a:rPr>
              <a:t>A </a:t>
            </a:r>
            <a:r>
              <a:rPr lang="en-US" sz="1600" b="1" i="0" dirty="0">
                <a:effectLst/>
              </a:rPr>
              <a:t>generative AI text model</a:t>
            </a:r>
            <a:r>
              <a:rPr lang="en-US" sz="1600" b="0" i="0" dirty="0">
                <a:effectLst/>
              </a:rPr>
              <a:t> is a type of AI model that is capable of generating new text based on the data it’s trained on. These models learn patterns and structures from large amounts of text data and then generate new, original text that follows these learned patterns.</a:t>
            </a:r>
          </a:p>
          <a:p>
            <a:pPr indent="-228600" algn="l">
              <a:buFont typeface="Arial" panose="020B0604020202020204" pitchFamily="34" charset="0"/>
              <a:buChar char="•"/>
            </a:pPr>
            <a:r>
              <a:rPr lang="en-US" sz="1600" b="0" i="0" dirty="0">
                <a:effectLst/>
              </a:rPr>
              <a:t>The exact way these models generate text can vary. Some models may use statistical methods to predict the likelihood of a particular word following a given sequence of words. Others, particularly those based on deep learning techniques, may use more complex processes that consider the context of a sentence or paragraph, semantic meaning, and even stylistic elements.</a:t>
            </a:r>
          </a:p>
          <a:p>
            <a:pPr indent="-228600" algn="l">
              <a:buFont typeface="Arial" panose="020B0604020202020204" pitchFamily="34" charset="0"/>
              <a:buChar char="•"/>
            </a:pPr>
            <a:r>
              <a:rPr lang="en-US" sz="1600" b="0" i="0" dirty="0">
                <a:effectLst/>
              </a:rPr>
              <a:t>Generative AI text models are used in various applications, including chatbots, automatic text completion, text translation, creative writing, and more. Their goal is often to produce text that is indistinguishable from that written by a human.</a:t>
            </a:r>
          </a:p>
          <a:p>
            <a:pPr algn="l"/>
            <a:r>
              <a:rPr lang="en-US" sz="1600" b="1" i="0" dirty="0">
                <a:effectLst/>
                <a:highlight>
                  <a:srgbClr val="00FFFF"/>
                </a:highlight>
              </a:rPr>
              <a:t>Multimodal Models</a:t>
            </a:r>
          </a:p>
          <a:p>
            <a:pPr indent="-228600" algn="l">
              <a:buFont typeface="Arial" panose="020B0604020202020204" pitchFamily="34" charset="0"/>
              <a:buChar char="•"/>
            </a:pPr>
            <a:r>
              <a:rPr lang="en-US" sz="1600" b="0" i="0" dirty="0">
                <a:effectLst/>
              </a:rPr>
              <a:t>A </a:t>
            </a:r>
            <a:r>
              <a:rPr lang="en-US" sz="1600" b="1" i="0" dirty="0">
                <a:effectLst/>
              </a:rPr>
              <a:t>generative AI multimodal model</a:t>
            </a:r>
            <a:r>
              <a:rPr lang="en-US" sz="1600" b="0" i="0" dirty="0">
                <a:effectLst/>
              </a:rPr>
              <a:t> is a type of AI model that can handle and generate multiple types of data, such as text, images, audio, and more. The term “multimodal” refers to the ability of these models to understand and generate different types of data (or modalities) together.</a:t>
            </a:r>
          </a:p>
          <a:p>
            <a:pPr indent="-228600" algn="l">
              <a:buFont typeface="Arial" panose="020B0604020202020204" pitchFamily="34" charset="0"/>
              <a:buChar char="•"/>
            </a:pPr>
            <a:r>
              <a:rPr lang="en-US" sz="1600" b="0" i="0" dirty="0">
                <a:effectLst/>
              </a:rPr>
              <a:t>Multimodal models are designed to capture the correlations between different modes of data. For example, in a dataset that includes images and corresponding descriptions, a multimodal model could learn the relationship between the visual content and its textual description.</a:t>
            </a:r>
          </a:p>
          <a:p>
            <a:pPr indent="-228600" algn="l">
              <a:buFont typeface="Arial" panose="020B0604020202020204" pitchFamily="34" charset="0"/>
              <a:buChar char="•"/>
            </a:pPr>
            <a:r>
              <a:rPr lang="en-US" sz="1600" b="0" i="0" dirty="0">
                <a:effectLst/>
              </a:rPr>
              <a:t>One use of multimodal models is in generating text descriptions for images (also known as image captioning). They can also be used to generate images from text descriptions (text-to-image synthesis). Other applications include speech-to-text and text-to-speech transformations, where the model generates audio from text and vice versa.</a:t>
            </a:r>
          </a:p>
          <a:p>
            <a:pPr indent="-228600" algn="l">
              <a:buFont typeface="Arial" panose="020B0604020202020204" pitchFamily="34" charset="0"/>
              <a:buChar char="•"/>
            </a:pPr>
            <a:endParaRPr lang="en-US" sz="1600" dirty="0"/>
          </a:p>
        </p:txBody>
      </p:sp>
    </p:spTree>
    <p:extLst>
      <p:ext uri="{BB962C8B-B14F-4D97-AF65-F5344CB8AC3E}">
        <p14:creationId xmlns:p14="http://schemas.microsoft.com/office/powerpoint/2010/main" val="3011558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91440" y="1153572"/>
            <a:ext cx="3700547" cy="4461163"/>
          </a:xfrm>
        </p:spPr>
        <p:txBody>
          <a:bodyPr vert="horz" lIns="91440" tIns="45720" rIns="91440" bIns="45720" rtlCol="0" anchor="ctr">
            <a:normAutofit/>
          </a:bodyPr>
          <a:lstStyle/>
          <a:p>
            <a:r>
              <a:rPr lang="en-US" sz="4400" b="1" kern="1200" dirty="0">
                <a:solidFill>
                  <a:srgbClr val="FFFFFF"/>
                </a:solidFill>
                <a:latin typeface="+mj-lt"/>
                <a:ea typeface="+mj-ea"/>
                <a:cs typeface="+mj-cs"/>
              </a:rPr>
              <a:t>WHAT ARE DALL-E, CHATGPT &amp; BARD ?</a:t>
            </a:r>
            <a:br>
              <a:rPr lang="en-US" sz="4400" b="1" kern="1200" dirty="0">
                <a:solidFill>
                  <a:srgbClr val="FFFFFF"/>
                </a:solidFill>
                <a:latin typeface="+mj-lt"/>
                <a:ea typeface="+mj-ea"/>
                <a:cs typeface="+mj-cs"/>
              </a:rPr>
            </a:br>
            <a:endParaRPr lang="en-US" sz="4400" kern="1200" dirty="0">
              <a:solidFill>
                <a:srgbClr val="FFFFFF"/>
              </a:solidFill>
              <a:latin typeface="+mj-lt"/>
              <a:ea typeface="+mj-ea"/>
              <a:cs typeface="+mj-cs"/>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4167272" y="319088"/>
            <a:ext cx="8021680" cy="6366192"/>
          </a:xfrm>
        </p:spPr>
        <p:txBody>
          <a:bodyPr vert="horz" lIns="91440" tIns="45720" rIns="91440" bIns="45720" rtlCol="0" anchor="ctr">
            <a:normAutofit/>
          </a:bodyPr>
          <a:lstStyle/>
          <a:p>
            <a:pPr indent="-228600" algn="l">
              <a:buFont typeface="Arial" panose="020B0604020202020204" pitchFamily="34" charset="0"/>
              <a:buChar char="•"/>
            </a:pPr>
            <a:r>
              <a:rPr lang="en-US" sz="1800" b="1" i="0" dirty="0">
                <a:effectLst/>
              </a:rPr>
              <a:t>DALL-E, ChatGPT, and Bard are three of the most common, most-used, and most powerful generative AI tools available to the general public.</a:t>
            </a:r>
          </a:p>
          <a:p>
            <a:pPr algn="l"/>
            <a:r>
              <a:rPr lang="en-US" sz="1800" b="1" i="0" dirty="0">
                <a:effectLst/>
              </a:rPr>
              <a:t>ChatGPT</a:t>
            </a:r>
          </a:p>
          <a:p>
            <a:pPr indent="-228600" algn="l">
              <a:buFont typeface="Arial" panose="020B0604020202020204" pitchFamily="34" charset="0"/>
              <a:buChar char="•"/>
            </a:pPr>
            <a:r>
              <a:rPr lang="en-US" sz="1800" b="1" i="0" dirty="0">
                <a:effectLst/>
              </a:rPr>
              <a:t>ChatGPT is a language model developed by OpenAI. It is based on the GPT (Generative Pre-trained Transformer) architecture, one of the most advanced transformers available today. ChatGPT is designed to engage in conversational interactions with users, providing human-like responses to various prompts and questions. OpenAI’s first public release was GPT-3. Nowadays, GPT-3.5 and GPT-4 are available to some users. ChatGPT was originally only accessible via an API but now can be used in a web browser or mobile app, making it one of the most accessible and popular generative AI tools today.</a:t>
            </a:r>
          </a:p>
          <a:p>
            <a:pPr algn="l"/>
            <a:r>
              <a:rPr lang="en-US" sz="1800" b="1" i="0" dirty="0">
                <a:effectLst/>
              </a:rPr>
              <a:t>DALL-E</a:t>
            </a:r>
          </a:p>
          <a:p>
            <a:pPr indent="-228600" algn="l">
              <a:buFont typeface="Arial" panose="020B0604020202020204" pitchFamily="34" charset="0"/>
              <a:buChar char="•"/>
            </a:pPr>
            <a:r>
              <a:rPr lang="en-US" sz="1800" b="1" i="0" dirty="0">
                <a:effectLst/>
              </a:rPr>
              <a:t>DALL-E is an AI model designed to generate original images from textual descriptions. Unlike traditional image generation models that manipulate existing images, DALL-E creates images entirely from scratch based on textual prompts. The model is trained on a massive dataset of text-image pairs, using a combination of unsupervised and supervised learning techniques.</a:t>
            </a:r>
          </a:p>
          <a:p>
            <a:pPr algn="l"/>
            <a:r>
              <a:rPr lang="en-US" sz="1800" b="1" i="0" dirty="0">
                <a:effectLst/>
              </a:rPr>
              <a:t>Bard</a:t>
            </a:r>
          </a:p>
          <a:p>
            <a:pPr indent="-228600" algn="l">
              <a:buFont typeface="Arial" panose="020B0604020202020204" pitchFamily="34" charset="0"/>
              <a:buChar char="•"/>
            </a:pPr>
            <a:r>
              <a:rPr lang="en-US" sz="1800" b="1" i="0" dirty="0">
                <a:effectLst/>
              </a:rPr>
              <a:t>Bard is Google’s entry into the AI chatbot market. Google was an early pioneer in AI language processing, offering open-source research for others to build upon. Bard is built on Google’s most advanced LLM, </a:t>
            </a:r>
            <a:r>
              <a:rPr lang="en-US" sz="1800" b="1" i="0" u="none" strike="noStrike" dirty="0">
                <a:effectLst/>
                <a:hlinkClick r:id="rId2"/>
              </a:rPr>
              <a:t>PaLM2</a:t>
            </a:r>
            <a:r>
              <a:rPr lang="en-US" sz="1800" b="1" i="0" dirty="0">
                <a:effectLst/>
              </a:rPr>
              <a:t>, which allows it to quickly generate multimodal content, including real-time images.</a:t>
            </a:r>
          </a:p>
          <a:p>
            <a:pPr indent="-228600" algn="l">
              <a:buFont typeface="Arial" panose="020B0604020202020204" pitchFamily="34" charset="0"/>
              <a:buChar char="•"/>
            </a:pPr>
            <a:endParaRPr lang="en-US" sz="1800" b="1" dirty="0"/>
          </a:p>
        </p:txBody>
      </p:sp>
    </p:spTree>
    <p:extLst>
      <p:ext uri="{BB962C8B-B14F-4D97-AF65-F5344CB8AC3E}">
        <p14:creationId xmlns:p14="http://schemas.microsoft.com/office/powerpoint/2010/main" val="921487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375B19E4-0108-41C4-8DB1-11BAE0B49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538483" y="0"/>
            <a:ext cx="10315046" cy="1117600"/>
          </a:xfrm>
        </p:spPr>
        <p:txBody>
          <a:bodyPr vert="horz" lIns="91440" tIns="45720" rIns="91440" bIns="45720" rtlCol="0" anchor="b">
            <a:normAutofit/>
          </a:bodyPr>
          <a:lstStyle/>
          <a:p>
            <a:r>
              <a:rPr lang="en-US" sz="3200" b="1" kern="1200" dirty="0">
                <a:solidFill>
                  <a:schemeClr val="bg1"/>
                </a:solidFill>
                <a:latin typeface="+mj-lt"/>
                <a:ea typeface="+mj-ea"/>
                <a:cs typeface="+mj-cs"/>
              </a:rPr>
              <a:t>USE CASES OF GENERATIVE AI,BY INDUSTRY </a:t>
            </a:r>
            <a:br>
              <a:rPr lang="en-US" sz="3200" b="1" kern="1200" dirty="0">
                <a:solidFill>
                  <a:schemeClr val="bg1"/>
                </a:solidFill>
                <a:latin typeface="+mj-lt"/>
                <a:ea typeface="+mj-ea"/>
                <a:cs typeface="+mj-cs"/>
              </a:rPr>
            </a:br>
            <a:endParaRPr lang="en-US" sz="3200" b="1" kern="1200" dirty="0">
              <a:solidFill>
                <a:schemeClr val="bg1"/>
              </a:solidFill>
              <a:latin typeface="+mj-lt"/>
              <a:ea typeface="+mj-ea"/>
              <a:cs typeface="+mj-cs"/>
            </a:endParaRPr>
          </a:p>
        </p:txBody>
      </p:sp>
      <p:pic>
        <p:nvPicPr>
          <p:cNvPr id="5" name="Video 4" descr="Factories And Smoke">
            <a:extLst>
              <a:ext uri="{FF2B5EF4-FFF2-40B4-BE49-F238E27FC236}">
                <a16:creationId xmlns:a16="http://schemas.microsoft.com/office/drawing/2014/main" id="{08503960-5206-FD30-E5DE-B38F7036C2E2}"/>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5818521" y="3469640"/>
            <a:ext cx="6373480" cy="3358457"/>
          </a:xfrm>
          <a:prstGeom prst="rect">
            <a:avLst/>
          </a:prstGeom>
        </p:spPr>
      </p:pic>
      <p:cxnSp>
        <p:nvCxnSpPr>
          <p:cNvPr id="44" name="Straight Connector 43">
            <a:extLst>
              <a:ext uri="{FF2B5EF4-FFF2-40B4-BE49-F238E27FC236}">
                <a16:creationId xmlns:a16="http://schemas.microsoft.com/office/drawing/2014/main" id="{CEA14AE1-71AB-4B18-826E-F563FF4288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2916"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17920" y="2026340"/>
            <a:ext cx="597408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382914" y="650240"/>
            <a:ext cx="11426169" cy="5791199"/>
          </a:xfrm>
        </p:spPr>
        <p:txBody>
          <a:bodyPr vert="horz" lIns="91440" tIns="45720" rIns="91440" bIns="45720" rtlCol="0">
            <a:noAutofit/>
          </a:bodyPr>
          <a:lstStyle/>
          <a:p>
            <a:pPr indent="-228600" algn="l">
              <a:buFont typeface="Arial" panose="020B0604020202020204" pitchFamily="34" charset="0"/>
              <a:buChar char="•"/>
            </a:pPr>
            <a:r>
              <a:rPr lang="en-US" sz="2000" b="1" i="0" dirty="0">
                <a:solidFill>
                  <a:schemeClr val="bg1"/>
                </a:solidFill>
                <a:effectLst/>
              </a:rPr>
              <a:t>Generative AI can be applied in various use cases to generate virtually any kind of content. The technology is becoming more accessible to users of all kinds thanks to cutting-edge </a:t>
            </a:r>
            <a:r>
              <a:rPr lang="en-US" sz="2000" b="1" dirty="0">
                <a:solidFill>
                  <a:schemeClr val="bg1"/>
                </a:solidFill>
                <a:hlinkClick r:id="rId5">
                  <a:extLst>
                    <a:ext uri="{A12FA001-AC4F-418D-AE19-62706E023703}">
                      <ahyp:hlinkClr xmlns:ahyp="http://schemas.microsoft.com/office/drawing/2018/hyperlinkcolor" val="tx"/>
                    </a:ext>
                  </a:extLst>
                </a:hlinkClick>
              </a:rPr>
              <a:t>breakthroughs like GPT</a:t>
            </a:r>
            <a:r>
              <a:rPr lang="en-US" sz="2000" b="1" dirty="0">
                <a:solidFill>
                  <a:schemeClr val="bg1"/>
                </a:solidFill>
              </a:rPr>
              <a:t> that can be tuned for different applications. Some of the </a:t>
            </a:r>
            <a:r>
              <a:rPr lang="en-US" sz="2000" b="1" dirty="0">
                <a:solidFill>
                  <a:schemeClr val="bg1"/>
                </a:solidFill>
                <a:hlinkClick r:id="rId6">
                  <a:extLst>
                    <a:ext uri="{A12FA001-AC4F-418D-AE19-62706E023703}">
                      <ahyp:hlinkClr xmlns:ahyp="http://schemas.microsoft.com/office/drawing/2018/hyperlinkcolor" val="tx"/>
                    </a:ext>
                  </a:extLst>
                </a:hlinkClick>
              </a:rPr>
              <a:t>use cases for generative AI</a:t>
            </a:r>
            <a:r>
              <a:rPr lang="en-US" sz="2000" b="1" dirty="0">
                <a:solidFill>
                  <a:schemeClr val="bg1"/>
                </a:solidFill>
              </a:rPr>
              <a:t> include the following:</a:t>
            </a:r>
          </a:p>
          <a:p>
            <a:pPr indent="-228600" algn="l">
              <a:buFont typeface="Arial" panose="020B0604020202020204" pitchFamily="34" charset="0"/>
              <a:buChar char="•"/>
            </a:pPr>
            <a:r>
              <a:rPr lang="en-US" sz="2000" b="1" i="0" dirty="0">
                <a:solidFill>
                  <a:schemeClr val="bg1"/>
                </a:solidFill>
                <a:effectLst/>
              </a:rPr>
              <a:t>Implementing chatbots for customer service and technical support.</a:t>
            </a:r>
          </a:p>
          <a:p>
            <a:pPr indent="-228600" algn="l">
              <a:buFont typeface="Arial" panose="020B0604020202020204" pitchFamily="34" charset="0"/>
              <a:buChar char="•"/>
            </a:pPr>
            <a:r>
              <a:rPr lang="en-US" sz="2000" b="1" i="0" dirty="0">
                <a:solidFill>
                  <a:schemeClr val="bg1"/>
                </a:solidFill>
                <a:effectLst/>
              </a:rPr>
              <a:t>Deploying deepfakes for mimicking people or even specific individuals.</a:t>
            </a:r>
          </a:p>
          <a:p>
            <a:pPr indent="-228600" algn="l">
              <a:buFont typeface="Arial" panose="020B0604020202020204" pitchFamily="34" charset="0"/>
              <a:buChar char="•"/>
            </a:pPr>
            <a:r>
              <a:rPr lang="en-US" sz="2000" b="1" i="0" dirty="0">
                <a:solidFill>
                  <a:schemeClr val="bg1"/>
                </a:solidFill>
                <a:effectLst/>
              </a:rPr>
              <a:t>Improving dubbing for movies and educational content in different languages.</a:t>
            </a:r>
          </a:p>
          <a:p>
            <a:pPr indent="-228600" algn="l">
              <a:buFont typeface="Arial" panose="020B0604020202020204" pitchFamily="34" charset="0"/>
              <a:buChar char="•"/>
            </a:pPr>
            <a:r>
              <a:rPr lang="en-US" sz="2000" b="1" i="0" dirty="0">
                <a:solidFill>
                  <a:schemeClr val="bg1"/>
                </a:solidFill>
                <a:effectLst/>
              </a:rPr>
              <a:t>Writing email responses, dating profiles, resumes and term papers.</a:t>
            </a:r>
          </a:p>
          <a:p>
            <a:pPr indent="-228600" algn="l">
              <a:buFont typeface="Arial" panose="020B0604020202020204" pitchFamily="34" charset="0"/>
              <a:buChar char="•"/>
            </a:pPr>
            <a:r>
              <a:rPr lang="en-US" sz="2000" b="1" i="0" dirty="0">
                <a:solidFill>
                  <a:schemeClr val="bg1"/>
                </a:solidFill>
                <a:effectLst/>
              </a:rPr>
              <a:t>Creating photorealistic art in a particular style.</a:t>
            </a:r>
          </a:p>
          <a:p>
            <a:pPr indent="-228600" algn="l">
              <a:buFont typeface="Arial" panose="020B0604020202020204" pitchFamily="34" charset="0"/>
              <a:buChar char="•"/>
            </a:pPr>
            <a:r>
              <a:rPr lang="en-US" sz="2000" b="1" i="0" dirty="0">
                <a:solidFill>
                  <a:schemeClr val="bg1"/>
                </a:solidFill>
                <a:effectLst/>
              </a:rPr>
              <a:t>Improving product demonstration videos.</a:t>
            </a:r>
          </a:p>
          <a:p>
            <a:pPr indent="-228600" algn="l">
              <a:buFont typeface="Arial" panose="020B0604020202020204" pitchFamily="34" charset="0"/>
              <a:buChar char="•"/>
            </a:pPr>
            <a:r>
              <a:rPr lang="en-US" sz="2000" b="1" i="0" dirty="0">
                <a:solidFill>
                  <a:schemeClr val="bg1"/>
                </a:solidFill>
                <a:effectLst/>
              </a:rPr>
              <a:t>Suggesting new drug compounds to test.</a:t>
            </a:r>
          </a:p>
          <a:p>
            <a:pPr indent="-228600" algn="l">
              <a:buFont typeface="Arial" panose="020B0604020202020204" pitchFamily="34" charset="0"/>
              <a:buChar char="•"/>
            </a:pPr>
            <a:r>
              <a:rPr lang="en-US" sz="2000" b="1" u="sng" dirty="0">
                <a:solidFill>
                  <a:schemeClr val="bg1"/>
                </a:solidFill>
                <a:hlinkClick r:id="rId7">
                  <a:extLst>
                    <a:ext uri="{A12FA001-AC4F-418D-AE19-62706E023703}">
                      <ahyp:hlinkClr xmlns:ahyp="http://schemas.microsoft.com/office/drawing/2018/hyperlinkcolor" val="tx"/>
                    </a:ext>
                  </a:extLst>
                </a:hlinkClick>
              </a:rPr>
              <a:t>Designing physical products</a:t>
            </a:r>
            <a:r>
              <a:rPr lang="en-US" sz="2000" b="1" u="sng" dirty="0">
                <a:solidFill>
                  <a:schemeClr val="bg1"/>
                </a:solidFill>
              </a:rPr>
              <a:t> </a:t>
            </a:r>
            <a:r>
              <a:rPr lang="en-US" sz="2000" b="1" i="0" dirty="0">
                <a:solidFill>
                  <a:schemeClr val="bg1"/>
                </a:solidFill>
                <a:effectLst/>
              </a:rPr>
              <a:t>and buildings.</a:t>
            </a:r>
          </a:p>
          <a:p>
            <a:pPr indent="-228600" algn="l">
              <a:buFont typeface="Arial" panose="020B0604020202020204" pitchFamily="34" charset="0"/>
              <a:buChar char="•"/>
            </a:pPr>
            <a:r>
              <a:rPr lang="en-US" sz="2000" b="1" i="0" dirty="0">
                <a:solidFill>
                  <a:schemeClr val="bg1"/>
                </a:solidFill>
                <a:effectLst/>
              </a:rPr>
              <a:t>Optimizing new chip designs.</a:t>
            </a:r>
          </a:p>
          <a:p>
            <a:pPr indent="-228600" algn="l">
              <a:buFont typeface="Arial" panose="020B0604020202020204" pitchFamily="34" charset="0"/>
              <a:buChar char="•"/>
            </a:pPr>
            <a:r>
              <a:rPr lang="en-US" sz="2000" b="1" i="0" dirty="0">
                <a:solidFill>
                  <a:schemeClr val="bg1"/>
                </a:solidFill>
                <a:effectLst/>
              </a:rPr>
              <a:t>Writing music in a specific style or tone.</a:t>
            </a:r>
            <a:endParaRPr lang="en-US" sz="2000" b="1" dirty="0">
              <a:solidFill>
                <a:schemeClr val="bg1"/>
              </a:solidFill>
            </a:endParaRPr>
          </a:p>
        </p:txBody>
      </p:sp>
    </p:spTree>
    <p:extLst>
      <p:ext uri="{BB962C8B-B14F-4D97-AF65-F5344CB8AC3E}">
        <p14:creationId xmlns:p14="http://schemas.microsoft.com/office/powerpoint/2010/main" val="30891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6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0" y="1765415"/>
            <a:ext cx="3671145" cy="1915129"/>
          </a:xfrm>
        </p:spPr>
        <p:txBody>
          <a:bodyPr vert="horz" lIns="91440" tIns="45720" rIns="91440" bIns="45720" rtlCol="0" anchor="b">
            <a:normAutofit/>
          </a:bodyPr>
          <a:lstStyle/>
          <a:p>
            <a:r>
              <a:rPr lang="en-US" sz="3600" kern="1200" dirty="0">
                <a:solidFill>
                  <a:srgbClr val="FFFFFF"/>
                </a:solidFill>
                <a:latin typeface="+mj-lt"/>
                <a:ea typeface="+mj-ea"/>
                <a:cs typeface="+mj-cs"/>
              </a:rPr>
              <a:t>WHAT ARE THE BENEFITS OF GENERATIVE AI?</a:t>
            </a: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4114800" y="193040"/>
            <a:ext cx="8074151" cy="6654822"/>
          </a:xfrm>
        </p:spPr>
        <p:txBody>
          <a:bodyPr vert="horz" lIns="91440" tIns="45720" rIns="91440" bIns="45720" rtlCol="0" anchor="ctr">
            <a:noAutofit/>
          </a:bodyPr>
          <a:lstStyle/>
          <a:p>
            <a:pPr indent="-228600" algn="l">
              <a:buFont typeface="Arial" panose="020B0604020202020204" pitchFamily="34" charset="0"/>
              <a:buChar char="•"/>
            </a:pPr>
            <a:r>
              <a:rPr lang="en-US" b="1" i="0" dirty="0">
                <a:effectLst/>
              </a:rPr>
              <a:t>Generative AI can be applied extensively across many areas of the business. It can make it easier to interpret and understand existing content and automatically create new content. Developers are exploring ways that generative AI can improve existing workflows, with an eye to adapting workflows entirely to take advantage of the technology. Some of the potential.</a:t>
            </a:r>
          </a:p>
          <a:p>
            <a:pPr indent="-228600" algn="l">
              <a:buFont typeface="Arial" panose="020B0604020202020204" pitchFamily="34" charset="0"/>
              <a:buChar char="•"/>
            </a:pPr>
            <a:endParaRPr lang="en-US" b="1" i="0" dirty="0">
              <a:effectLst/>
            </a:endParaRPr>
          </a:p>
          <a:p>
            <a:pPr algn="l"/>
            <a:r>
              <a:rPr lang="en-US" b="1" dirty="0">
                <a:hlinkClick r:id="rId2">
                  <a:extLst>
                    <a:ext uri="{A12FA001-AC4F-418D-AE19-62706E023703}">
                      <ahyp:hlinkClr xmlns:ahyp="http://schemas.microsoft.com/office/drawing/2018/hyperlinkcolor" val="tx"/>
                    </a:ext>
                  </a:extLst>
                </a:hlinkClick>
              </a:rPr>
              <a:t>Benefits of implementing generative AI</a:t>
            </a:r>
            <a:r>
              <a:rPr lang="en-US" b="1" dirty="0"/>
              <a:t> include the following:</a:t>
            </a:r>
          </a:p>
          <a:p>
            <a:pPr indent="-228600" algn="l">
              <a:buFont typeface="Arial" panose="020B0604020202020204" pitchFamily="34" charset="0"/>
              <a:buChar char="•"/>
            </a:pPr>
            <a:r>
              <a:rPr lang="en-US" b="1" i="0" dirty="0">
                <a:effectLst/>
              </a:rPr>
              <a:t>Automating the manual process of writing content.</a:t>
            </a:r>
          </a:p>
          <a:p>
            <a:pPr indent="-228600" algn="l">
              <a:buFont typeface="Arial" panose="020B0604020202020204" pitchFamily="34" charset="0"/>
              <a:buChar char="•"/>
            </a:pPr>
            <a:r>
              <a:rPr lang="en-US" b="1" i="0" dirty="0">
                <a:effectLst/>
              </a:rPr>
              <a:t>Reducing the effort of responding to emails.</a:t>
            </a:r>
          </a:p>
          <a:p>
            <a:pPr indent="-228600" algn="l">
              <a:buFont typeface="Arial" panose="020B0604020202020204" pitchFamily="34" charset="0"/>
              <a:buChar char="•"/>
            </a:pPr>
            <a:r>
              <a:rPr lang="en-US" b="1" i="0" dirty="0">
                <a:effectLst/>
              </a:rPr>
              <a:t>Improving the response to specific technical queries.</a:t>
            </a:r>
          </a:p>
          <a:p>
            <a:pPr indent="-228600" algn="l">
              <a:buFont typeface="Arial" panose="020B0604020202020204" pitchFamily="34" charset="0"/>
              <a:buChar char="•"/>
            </a:pPr>
            <a:r>
              <a:rPr lang="en-US" b="1" i="0" dirty="0">
                <a:effectLst/>
              </a:rPr>
              <a:t>Creating realistic representations of people.</a:t>
            </a:r>
          </a:p>
          <a:p>
            <a:pPr indent="-228600" algn="l">
              <a:buFont typeface="Arial" panose="020B0604020202020204" pitchFamily="34" charset="0"/>
              <a:buChar char="•"/>
            </a:pPr>
            <a:r>
              <a:rPr lang="en-US" b="1" i="0" dirty="0">
                <a:effectLst/>
              </a:rPr>
              <a:t>Summarizing complex information into a coherent narrative.</a:t>
            </a:r>
          </a:p>
          <a:p>
            <a:pPr indent="-228600" algn="l">
              <a:buFont typeface="Arial" panose="020B0604020202020204" pitchFamily="34" charset="0"/>
              <a:buChar char="•"/>
            </a:pPr>
            <a:r>
              <a:rPr lang="en-US" b="1" i="0" dirty="0">
                <a:effectLst/>
              </a:rPr>
              <a:t>Simplifying the process of creating content in a particular style.</a:t>
            </a:r>
          </a:p>
          <a:p>
            <a:pPr indent="-228600" algn="l">
              <a:buFont typeface="Arial" panose="020B0604020202020204" pitchFamily="34" charset="0"/>
              <a:buChar char="•"/>
            </a:pPr>
            <a:endParaRPr lang="en-US" b="1" dirty="0"/>
          </a:p>
        </p:txBody>
      </p:sp>
    </p:spTree>
    <p:extLst>
      <p:ext uri="{BB962C8B-B14F-4D97-AF65-F5344CB8AC3E}">
        <p14:creationId xmlns:p14="http://schemas.microsoft.com/office/powerpoint/2010/main" val="3515533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111760" y="1"/>
            <a:ext cx="12080240" cy="1269999"/>
          </a:xfrm>
        </p:spPr>
        <p:txBody>
          <a:bodyPr>
            <a:normAutofit fontScale="90000"/>
          </a:bodyPr>
          <a:lstStyle/>
          <a:p>
            <a:r>
              <a:rPr lang="en-US" sz="4800" b="0" i="0" dirty="0">
                <a:solidFill>
                  <a:srgbClr val="000000"/>
                </a:solidFill>
                <a:effectLst/>
                <a:highlight>
                  <a:srgbClr val="00FFFF"/>
                </a:highlight>
                <a:latin typeface="Gilroy"/>
              </a:rPr>
              <a:t>What Does it Take to Build a Generative AI Model?</a:t>
            </a:r>
            <a:br>
              <a:rPr lang="en-US" sz="4800" b="0" i="0" dirty="0">
                <a:solidFill>
                  <a:srgbClr val="000000"/>
                </a:solidFill>
                <a:effectLst/>
                <a:highlight>
                  <a:srgbClr val="00FFFF"/>
                </a:highlight>
                <a:latin typeface="Gilroy"/>
              </a:rPr>
            </a:br>
            <a:endParaRPr lang="en-IN" sz="4800" dirty="0">
              <a:highlight>
                <a:srgbClr val="00FFFF"/>
              </a:highlight>
            </a:endParaRP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111760" y="741680"/>
            <a:ext cx="12080240" cy="5943600"/>
          </a:xfrm>
        </p:spPr>
        <p:txBody>
          <a:bodyPr>
            <a:normAutofit fontScale="92500" lnSpcReduction="10000"/>
          </a:bodyPr>
          <a:lstStyle/>
          <a:p>
            <a:pPr algn="l"/>
            <a:r>
              <a:rPr lang="en-US" b="1" i="0" dirty="0">
                <a:effectLst/>
                <a:latin typeface="Gilroy"/>
              </a:rPr>
              <a:t>Building a generative AI model requires the following:</a:t>
            </a:r>
          </a:p>
          <a:p>
            <a:pPr algn="l">
              <a:buFont typeface="+mj-lt"/>
              <a:buAutoNum type="arabicPeriod"/>
            </a:pPr>
            <a:r>
              <a:rPr lang="en-US" b="1" i="0" u="sng" dirty="0">
                <a:solidFill>
                  <a:srgbClr val="434F58"/>
                </a:solidFill>
                <a:effectLst/>
                <a:highlight>
                  <a:srgbClr val="00FFFF"/>
                </a:highlight>
                <a:latin typeface="Gilroy"/>
              </a:rPr>
              <a:t>Data</a:t>
            </a:r>
            <a:r>
              <a:rPr lang="en-US" b="1" u="sng" dirty="0">
                <a:solidFill>
                  <a:srgbClr val="434F58"/>
                </a:solidFill>
                <a:highlight>
                  <a:srgbClr val="00FFFF"/>
                </a:highlight>
                <a:latin typeface="Gilroy"/>
              </a:rPr>
              <a:t>:</a:t>
            </a:r>
            <a:r>
              <a:rPr lang="en-US" b="1" i="0" dirty="0">
                <a:solidFill>
                  <a:srgbClr val="434F58"/>
                </a:solidFill>
                <a:effectLst/>
                <a:highlight>
                  <a:srgbClr val="00FFFF"/>
                </a:highlight>
                <a:latin typeface="Gilroy"/>
              </a:rPr>
              <a:t> </a:t>
            </a:r>
            <a:r>
              <a:rPr lang="en-US" b="1" i="0" dirty="0">
                <a:solidFill>
                  <a:srgbClr val="434F58"/>
                </a:solidFill>
                <a:effectLst/>
                <a:latin typeface="Gilroy"/>
              </a:rPr>
              <a:t>Generative models are trained on large amounts of data. For instance, a text-generating model might be trained on millions of books, articles, and websites. The quality and diversity of this training data can greatly affect the performance of the model.</a:t>
            </a:r>
          </a:p>
          <a:p>
            <a:pPr algn="l">
              <a:buFont typeface="+mj-lt"/>
              <a:buAutoNum type="arabicPeriod"/>
            </a:pPr>
            <a:r>
              <a:rPr lang="en-US" b="1" i="0" u="sng" dirty="0">
                <a:solidFill>
                  <a:srgbClr val="434F58"/>
                </a:solidFill>
                <a:effectLst/>
                <a:highlight>
                  <a:srgbClr val="00FFFF"/>
                </a:highlight>
                <a:latin typeface="Gilroy"/>
              </a:rPr>
              <a:t>Computation resources. </a:t>
            </a:r>
            <a:r>
              <a:rPr lang="en-US" b="1" i="0" dirty="0">
                <a:solidFill>
                  <a:srgbClr val="434F58"/>
                </a:solidFill>
                <a:effectLst/>
                <a:latin typeface="Gilroy"/>
              </a:rPr>
              <a:t>Training generative models typically require significant computational power. This often involves using high-performance GPUs that can handle the intense computational demands of training large neural networks.</a:t>
            </a:r>
          </a:p>
          <a:p>
            <a:pPr algn="l">
              <a:buFont typeface="+mj-lt"/>
              <a:buAutoNum type="arabicPeriod"/>
            </a:pPr>
            <a:r>
              <a:rPr lang="en-US" b="1" i="0" u="sng" dirty="0">
                <a:solidFill>
                  <a:srgbClr val="434F58"/>
                </a:solidFill>
                <a:effectLst/>
                <a:highlight>
                  <a:srgbClr val="00FFFF"/>
                </a:highlight>
                <a:latin typeface="Gilroy"/>
              </a:rPr>
              <a:t>Model architecture. </a:t>
            </a:r>
            <a:r>
              <a:rPr lang="en-US" b="1" i="0" dirty="0">
                <a:solidFill>
                  <a:srgbClr val="434F58"/>
                </a:solidFill>
                <a:effectLst/>
                <a:latin typeface="Gilroy"/>
              </a:rPr>
              <a:t>Designing the architecture of the model is a crucial step. This involves choosing the type of neural network (e.g., recurrent neural networks, convolutional neural networks, transformer networks, etc.) and configuring its structure (e.g., the number of layers, the number of nodes in each layer, etc.).</a:t>
            </a:r>
          </a:p>
          <a:p>
            <a:pPr algn="l">
              <a:buFont typeface="+mj-lt"/>
              <a:buAutoNum type="arabicPeriod"/>
            </a:pPr>
            <a:r>
              <a:rPr lang="en-US" b="1" i="0" u="sng" dirty="0">
                <a:solidFill>
                  <a:srgbClr val="434F58"/>
                </a:solidFill>
                <a:effectLst/>
                <a:highlight>
                  <a:srgbClr val="00FFFF"/>
                </a:highlight>
                <a:latin typeface="Gilroy"/>
              </a:rPr>
              <a:t>A training algorithm. </a:t>
            </a:r>
            <a:r>
              <a:rPr lang="en-US" b="1" i="0" dirty="0">
                <a:solidFill>
                  <a:srgbClr val="434F58"/>
                </a:solidFill>
                <a:effectLst/>
                <a:latin typeface="Gilroy"/>
              </a:rPr>
              <a:t>The model needs to be trained using a suitable algorithm. In the case of Generative Adversarial Networks (GANs), for example, this involves a process where two neural networks are trained in tandem: a “generator” network that tries to create realistic data, and a “discriminator” network that tries to distinguish the generated data from real data.</a:t>
            </a:r>
          </a:p>
          <a:p>
            <a:pPr algn="l"/>
            <a:r>
              <a:rPr lang="en-US" b="1" i="0" dirty="0">
                <a:effectLst/>
                <a:latin typeface="Gilroy"/>
              </a:rPr>
              <a:t>Building a generative AI model can be a complex and resource-intensive process, often requiring a team of skilled data scientists and engineers. Luckily, many tools and resources are available to make this process more accessible, including open-source research on generative AI models that have already been built.</a:t>
            </a:r>
          </a:p>
          <a:p>
            <a:endParaRPr lang="en-IN" b="1" dirty="0"/>
          </a:p>
        </p:txBody>
      </p:sp>
    </p:spTree>
    <p:extLst>
      <p:ext uri="{BB962C8B-B14F-4D97-AF65-F5344CB8AC3E}">
        <p14:creationId xmlns:p14="http://schemas.microsoft.com/office/powerpoint/2010/main" val="2964596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0" y="0"/>
            <a:ext cx="12100560" cy="1437957"/>
          </a:xfrm>
        </p:spPr>
        <p:txBody>
          <a:bodyPr>
            <a:normAutofit/>
          </a:bodyPr>
          <a:lstStyle/>
          <a:p>
            <a:r>
              <a:rPr lang="en-IN" sz="3200" b="1" dirty="0">
                <a:highlight>
                  <a:srgbClr val="00FFFF"/>
                </a:highlight>
              </a:rPr>
              <a:t>4- ARTIFICIAL INTELLIGENCE vs MACHINE LEARNING vs DEEP LEARNING VS GENERATIVE AI</a:t>
            </a:r>
            <a:br>
              <a:rPr lang="en-IN" sz="3200" b="1" dirty="0"/>
            </a:br>
            <a:endParaRPr lang="en-IN" sz="3200" dirty="0"/>
          </a:p>
        </p:txBody>
      </p:sp>
      <p:pic>
        <p:nvPicPr>
          <p:cNvPr id="5" name="Picture 4">
            <a:extLst>
              <a:ext uri="{FF2B5EF4-FFF2-40B4-BE49-F238E27FC236}">
                <a16:creationId xmlns:a16="http://schemas.microsoft.com/office/drawing/2014/main" id="{51BA1DEC-2BFA-DDAF-1767-534BE4C3F5CD}"/>
              </a:ext>
            </a:extLst>
          </p:cNvPr>
          <p:cNvPicPr>
            <a:picLocks noChangeAspect="1"/>
          </p:cNvPicPr>
          <p:nvPr/>
        </p:nvPicPr>
        <p:blipFill>
          <a:blip r:embed="rId2"/>
          <a:stretch>
            <a:fillRect/>
          </a:stretch>
        </p:blipFill>
        <p:spPr>
          <a:xfrm>
            <a:off x="91440" y="1066800"/>
            <a:ext cx="8188960" cy="5699760"/>
          </a:xfrm>
          <a:prstGeom prst="rect">
            <a:avLst/>
          </a:prstGeom>
        </p:spPr>
      </p:pic>
      <p:pic>
        <p:nvPicPr>
          <p:cNvPr id="1026" name="Picture 2">
            <a:extLst>
              <a:ext uri="{FF2B5EF4-FFF2-40B4-BE49-F238E27FC236}">
                <a16:creationId xmlns:a16="http://schemas.microsoft.com/office/drawing/2014/main" id="{F7F65F37-CD17-78C9-6315-B2DA3BE172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0400" y="1249680"/>
            <a:ext cx="3901440" cy="4958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480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0" y="0"/>
            <a:ext cx="12192000" cy="843280"/>
          </a:xfrm>
        </p:spPr>
        <p:txBody>
          <a:bodyPr>
            <a:normAutofit fontScale="90000"/>
          </a:bodyPr>
          <a:lstStyle/>
          <a:p>
            <a:r>
              <a:rPr lang="en-IN" sz="3200" b="1" dirty="0">
                <a:highlight>
                  <a:srgbClr val="00FFFF"/>
                </a:highlight>
              </a:rPr>
              <a:t>AI vs GENERATIVE AI vs MACHINE LEARNING vs LLMS vs DEEP LEARNING vs NEURAL NETWORKS</a:t>
            </a: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0" y="751840"/>
            <a:ext cx="12192000" cy="6106160"/>
          </a:xfrm>
        </p:spPr>
        <p:txBody>
          <a:bodyPr>
            <a:noAutofit/>
          </a:bodyPr>
          <a:lstStyle/>
          <a:p>
            <a:pPr algn="l"/>
            <a:r>
              <a:rPr lang="en-US" sz="1800" b="1" i="0" dirty="0">
                <a:solidFill>
                  <a:srgbClr val="16191D"/>
                </a:solidFill>
                <a:effectLst/>
                <a:highlight>
                  <a:srgbClr val="00FFFF"/>
                </a:highlight>
                <a:latin typeface="Source Sans Pro" panose="020B0503030403020204" pitchFamily="34" charset="0"/>
              </a:rPr>
              <a:t>AI</a:t>
            </a:r>
            <a:r>
              <a:rPr lang="en-US" sz="1800" b="0" i="0" dirty="0">
                <a:solidFill>
                  <a:srgbClr val="16191D"/>
                </a:solidFill>
                <a:effectLst/>
                <a:latin typeface="Source Sans Pro" panose="020B0503030403020204" pitchFamily="34" charset="0"/>
              </a:rPr>
              <a:t> refers to the broader field of computer sciences pursuing the creation of intelligent machines that can perform tasks that would be typically performed by a human. AI can perform tasks like speech recognition, problem-solving, perception, and language understanding. It can also be designed to do more specific tasks, like diagnosing medical conditions or playing chess. There are a wide range of techniques used in AI, and this includes machine learning, natural language processing, and expert systems, for example. AI can analyze data and intelligently respond to what it sees, but it is limited to this function.</a:t>
            </a:r>
          </a:p>
          <a:p>
            <a:pPr algn="l"/>
            <a:r>
              <a:rPr lang="en-US" sz="1800" b="1" i="0" dirty="0">
                <a:solidFill>
                  <a:srgbClr val="16191D"/>
                </a:solidFill>
                <a:effectLst/>
                <a:highlight>
                  <a:srgbClr val="00FFFF"/>
                </a:highlight>
                <a:latin typeface="Source Sans Pro" panose="020B0503030403020204" pitchFamily="34" charset="0"/>
              </a:rPr>
              <a:t>Generative AI</a:t>
            </a:r>
            <a:r>
              <a:rPr lang="en-US" sz="1800" b="0" i="0" dirty="0">
                <a:solidFill>
                  <a:srgbClr val="16191D"/>
                </a:solidFill>
                <a:effectLst/>
                <a:highlight>
                  <a:srgbClr val="00FFFF"/>
                </a:highlight>
                <a:latin typeface="Source Sans Pro" panose="020B0503030403020204" pitchFamily="34" charset="0"/>
              </a:rPr>
              <a:t>, </a:t>
            </a:r>
            <a:r>
              <a:rPr lang="en-US" sz="1800" b="0" i="0" dirty="0">
                <a:solidFill>
                  <a:srgbClr val="16191D"/>
                </a:solidFill>
                <a:effectLst/>
                <a:latin typeface="Source Sans Pro" panose="020B0503030403020204" pitchFamily="34" charset="0"/>
              </a:rPr>
              <a:t>on the other hand, takes it a step further by using data to create content that’s entirely new and in various formats. Using machine learning models, generative AI produces original content based on patterns learned from existing data. Both the fields of AI and generative AI continue to evolve and advance. Now, let’s go over some other terms you’ve likely seen floating around in relation to generative AI.</a:t>
            </a:r>
          </a:p>
          <a:p>
            <a:pPr algn="l"/>
            <a:r>
              <a:rPr lang="en-US" sz="1800" b="1" i="0" dirty="0">
                <a:solidFill>
                  <a:srgbClr val="16191D"/>
                </a:solidFill>
                <a:effectLst/>
                <a:highlight>
                  <a:srgbClr val="00FFFF"/>
                </a:highlight>
                <a:latin typeface="Source Sans Pro" panose="020B0503030403020204" pitchFamily="34" charset="0"/>
              </a:rPr>
              <a:t>Machine learning</a:t>
            </a:r>
            <a:r>
              <a:rPr lang="en-US" sz="1800" b="0" i="0" dirty="0">
                <a:solidFill>
                  <a:srgbClr val="16191D"/>
                </a:solidFill>
                <a:effectLst/>
                <a:highlight>
                  <a:srgbClr val="00FFFF"/>
                </a:highlight>
                <a:latin typeface="Source Sans Pro" panose="020B0503030403020204" pitchFamily="34" charset="0"/>
              </a:rPr>
              <a:t> </a:t>
            </a:r>
            <a:r>
              <a:rPr lang="en-US" sz="1800" b="0" i="0" dirty="0">
                <a:solidFill>
                  <a:srgbClr val="16191D"/>
                </a:solidFill>
                <a:effectLst/>
                <a:latin typeface="Source Sans Pro" panose="020B0503030403020204" pitchFamily="34" charset="0"/>
              </a:rPr>
              <a:t>is a subfield or method used in AI research. It involves the development of algorithms and models to enable computer systems to learn from data and make predictions or decisions. Machine learning systems learn from examples and adjust based on the data they’re exposed to, allowing it to improve its performance over time without being programmed to do so.</a:t>
            </a:r>
          </a:p>
          <a:p>
            <a:pPr algn="l"/>
            <a:r>
              <a:rPr lang="en-US" sz="1800" b="1" i="0" dirty="0">
                <a:solidFill>
                  <a:srgbClr val="16191D"/>
                </a:solidFill>
                <a:effectLst/>
                <a:highlight>
                  <a:srgbClr val="00FFFF"/>
                </a:highlight>
                <a:latin typeface="Source Sans Pro" panose="020B0503030403020204" pitchFamily="34" charset="0"/>
              </a:rPr>
              <a:t>Large language models (LLMs)</a:t>
            </a:r>
            <a:r>
              <a:rPr lang="en-US" sz="1800" b="0" i="0" dirty="0">
                <a:solidFill>
                  <a:srgbClr val="16191D"/>
                </a:solidFill>
                <a:effectLst/>
                <a:highlight>
                  <a:srgbClr val="00FFFF"/>
                </a:highlight>
                <a:latin typeface="Source Sans Pro" panose="020B0503030403020204" pitchFamily="34" charset="0"/>
              </a:rPr>
              <a:t> </a:t>
            </a:r>
            <a:r>
              <a:rPr lang="en-US" sz="1800" b="0" i="0" dirty="0">
                <a:solidFill>
                  <a:srgbClr val="16191D"/>
                </a:solidFill>
                <a:effectLst/>
                <a:latin typeface="Source Sans Pro" panose="020B0503030403020204" pitchFamily="34" charset="0"/>
              </a:rPr>
              <a:t>are the newest and least clearly-defined concept. A large language model, like OpenAI’s GPT-3, is a type of machine learning model that's trained on a large amount of text and specializes in text generation and understanding to generate natural-sounding replies. </a:t>
            </a:r>
          </a:p>
          <a:p>
            <a:pPr algn="l"/>
            <a:r>
              <a:rPr lang="en-US" sz="1800" b="1" i="0" dirty="0">
                <a:solidFill>
                  <a:srgbClr val="16191D"/>
                </a:solidFill>
                <a:effectLst/>
                <a:highlight>
                  <a:srgbClr val="00FFFF"/>
                </a:highlight>
                <a:latin typeface="Source Sans Pro" panose="020B0503030403020204" pitchFamily="34" charset="0"/>
              </a:rPr>
              <a:t>Deep learning</a:t>
            </a:r>
            <a:r>
              <a:rPr lang="en-US" sz="1800" b="0" i="0" dirty="0">
                <a:solidFill>
                  <a:srgbClr val="16191D"/>
                </a:solidFill>
                <a:effectLst/>
                <a:highlight>
                  <a:srgbClr val="00FFFF"/>
                </a:highlight>
                <a:latin typeface="Source Sans Pro" panose="020B0503030403020204" pitchFamily="34" charset="0"/>
              </a:rPr>
              <a:t> </a:t>
            </a:r>
            <a:r>
              <a:rPr lang="en-US" sz="1800" b="0" i="0" dirty="0">
                <a:solidFill>
                  <a:srgbClr val="16191D"/>
                </a:solidFill>
                <a:effectLst/>
                <a:latin typeface="Source Sans Pro" panose="020B0503030403020204" pitchFamily="34" charset="0"/>
              </a:rPr>
              <a:t>is a subfield of machine learning that focuses on training neural networks to handle more complex patterns than traditional machine learning. </a:t>
            </a:r>
          </a:p>
          <a:p>
            <a:pPr algn="l"/>
            <a:r>
              <a:rPr lang="en-US" sz="1800" b="1" i="0" dirty="0">
                <a:solidFill>
                  <a:srgbClr val="16191D"/>
                </a:solidFill>
                <a:effectLst/>
                <a:highlight>
                  <a:srgbClr val="00FFFF"/>
                </a:highlight>
                <a:latin typeface="Source Sans Pro" panose="020B0503030403020204" pitchFamily="34" charset="0"/>
              </a:rPr>
              <a:t>Neural networks</a:t>
            </a:r>
            <a:r>
              <a:rPr lang="en-US" sz="1800" b="0" i="0" dirty="0">
                <a:solidFill>
                  <a:srgbClr val="16191D"/>
                </a:solidFill>
                <a:effectLst/>
                <a:highlight>
                  <a:srgbClr val="00FFFF"/>
                </a:highlight>
                <a:latin typeface="Source Sans Pro" panose="020B0503030403020204" pitchFamily="34" charset="0"/>
              </a:rPr>
              <a:t> </a:t>
            </a:r>
            <a:r>
              <a:rPr lang="en-US" sz="1800" b="0" i="0" dirty="0">
                <a:solidFill>
                  <a:srgbClr val="16191D"/>
                </a:solidFill>
                <a:effectLst/>
                <a:latin typeface="Source Sans Pro" panose="020B0503030403020204" pitchFamily="34" charset="0"/>
              </a:rPr>
              <a:t>are inspired by the functioning of the human brain’s interconnected neurons. They learn by being given lots of examples and are used for various tasks like pattern recognition, classification, regression, and more. They consist of interconnected units that process and transform input data into meaningful outputs. They also learn from information over time. </a:t>
            </a:r>
          </a:p>
          <a:p>
            <a:endParaRPr lang="en-IN" sz="1800" dirty="0"/>
          </a:p>
        </p:txBody>
      </p:sp>
    </p:spTree>
    <p:extLst>
      <p:ext uri="{BB962C8B-B14F-4D97-AF65-F5344CB8AC3E}">
        <p14:creationId xmlns:p14="http://schemas.microsoft.com/office/powerpoint/2010/main" val="3753614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3017520" y="1"/>
            <a:ext cx="9072880" cy="558800"/>
          </a:xfrm>
        </p:spPr>
        <p:txBody>
          <a:bodyPr vert="horz" lIns="91440" tIns="45720" rIns="91440" bIns="45720" rtlCol="0" anchor="b">
            <a:normAutofit fontScale="90000"/>
          </a:bodyPr>
          <a:lstStyle/>
          <a:p>
            <a:r>
              <a:rPr lang="en-US" sz="3600" b="1" dirty="0">
                <a:highlight>
                  <a:srgbClr val="00FFFF"/>
                </a:highlight>
              </a:rPr>
              <a:t>7- HOW GENERATIVE AI USED IN ORGANIZATION</a:t>
            </a:r>
          </a:p>
        </p:txBody>
      </p:sp>
      <p:pic>
        <p:nvPicPr>
          <p:cNvPr id="5" name="Picture 4" descr="Multi-coloured push pins connected by a black wire">
            <a:extLst>
              <a:ext uri="{FF2B5EF4-FFF2-40B4-BE49-F238E27FC236}">
                <a16:creationId xmlns:a16="http://schemas.microsoft.com/office/drawing/2014/main" id="{3B4CF350-A755-CDF6-792E-853900CA4FFD}"/>
              </a:ext>
            </a:extLst>
          </p:cNvPr>
          <p:cNvPicPr>
            <a:picLocks noChangeAspect="1"/>
          </p:cNvPicPr>
          <p:nvPr/>
        </p:nvPicPr>
        <p:blipFill rotWithShape="1">
          <a:blip r:embed="rId2"/>
          <a:srcRect l="6238" r="48430" b="-1"/>
          <a:stretch/>
        </p:blipFill>
        <p:spPr>
          <a:xfrm>
            <a:off x="1" y="10"/>
            <a:ext cx="3014471"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3014472" y="477520"/>
            <a:ext cx="9177528" cy="6248401"/>
          </a:xfrm>
        </p:spPr>
        <p:txBody>
          <a:bodyPr vert="horz" lIns="91440" tIns="45720" rIns="91440" bIns="45720" rtlCol="0">
            <a:noAutofit/>
          </a:bodyPr>
          <a:lstStyle/>
          <a:p>
            <a:pPr indent="-228600" algn="l">
              <a:buFont typeface="Arial" panose="020B0604020202020204" pitchFamily="34" charset="0"/>
              <a:buChar char="•"/>
            </a:pPr>
            <a:r>
              <a:rPr lang="en-US" dirty="0"/>
              <a:t>Every organization trying to build the custom </a:t>
            </a:r>
            <a:r>
              <a:rPr lang="en-US" dirty="0" err="1"/>
              <a:t>chatgpt</a:t>
            </a:r>
            <a:r>
              <a:rPr lang="en-US" dirty="0"/>
              <a:t> for their client &amp; customer to boost up the production </a:t>
            </a:r>
          </a:p>
          <a:p>
            <a:pPr indent="-228600" algn="l">
              <a:buFont typeface="Arial" panose="020B0604020202020204" pitchFamily="34" charset="0"/>
              <a:buChar char="•"/>
            </a:pPr>
            <a:r>
              <a:rPr lang="en-US" dirty="0" err="1"/>
              <a:t>ChatGpt</a:t>
            </a:r>
            <a:r>
              <a:rPr lang="en-US" dirty="0"/>
              <a:t> helps to provide the finetune answer from various </a:t>
            </a:r>
            <a:r>
              <a:rPr lang="en-US" dirty="0" err="1"/>
              <a:t>resourse</a:t>
            </a:r>
            <a:endParaRPr lang="en-US" dirty="0"/>
          </a:p>
          <a:p>
            <a:pPr indent="-228600" algn="l">
              <a:buFont typeface="Arial" panose="020B0604020202020204" pitchFamily="34" charset="0"/>
              <a:buChar char="•"/>
            </a:pPr>
            <a:r>
              <a:rPr lang="en-US" dirty="0"/>
              <a:t>In organization customer will more benefit by using the leverage of custom </a:t>
            </a:r>
            <a:r>
              <a:rPr lang="en-US" dirty="0" err="1"/>
              <a:t>chatgpt</a:t>
            </a:r>
            <a:r>
              <a:rPr lang="en-US" dirty="0"/>
              <a:t>, deploy in cloud through AZUR AI or many tools.</a:t>
            </a:r>
            <a:endParaRPr lang="en-US" b="1" i="0" dirty="0">
              <a:effectLst/>
            </a:endParaRPr>
          </a:p>
          <a:p>
            <a:pPr indent="-228600" algn="l">
              <a:buFont typeface="Arial" panose="020B0604020202020204" pitchFamily="34" charset="0"/>
              <a:buChar char="•"/>
            </a:pPr>
            <a:r>
              <a:rPr lang="en-US" dirty="0"/>
              <a:t>D</a:t>
            </a:r>
            <a:r>
              <a:rPr lang="en-US" i="0" dirty="0">
                <a:effectLst/>
              </a:rPr>
              <a:t>eploying generative AI in customer service</a:t>
            </a:r>
            <a:r>
              <a:rPr lang="en-US" dirty="0"/>
              <a:t> </a:t>
            </a:r>
          </a:p>
          <a:p>
            <a:pPr indent="-228600" algn="l">
              <a:buFont typeface="Arial" panose="020B0604020202020204" pitchFamily="34" charset="0"/>
              <a:buChar char="•"/>
            </a:pPr>
            <a:r>
              <a:rPr lang="en-US" i="0" dirty="0">
                <a:effectLst/>
              </a:rPr>
              <a:t>Automate your most common FAQs with a generative approach</a:t>
            </a:r>
          </a:p>
          <a:p>
            <a:pPr indent="-228600" algn="l">
              <a:buFont typeface="Arial" panose="020B0604020202020204" pitchFamily="34" charset="0"/>
              <a:buChar char="•"/>
            </a:pPr>
            <a:r>
              <a:rPr lang="en-US" i="0" dirty="0">
                <a:effectLst/>
              </a:rPr>
              <a:t>Elevate generative AI using analytics and insights to continually optimize automation</a:t>
            </a:r>
          </a:p>
          <a:p>
            <a:pPr indent="-228600" algn="l">
              <a:buFont typeface="Arial" panose="020B0604020202020204" pitchFamily="34" charset="0"/>
              <a:buChar char="•"/>
            </a:pPr>
            <a:r>
              <a:rPr lang="en-US" i="0" dirty="0">
                <a:effectLst/>
              </a:rPr>
              <a:t>Precise and exhaustive titles for clear context setting</a:t>
            </a:r>
            <a:endParaRPr lang="en-US" dirty="0"/>
          </a:p>
          <a:p>
            <a:pPr indent="-228600" algn="l">
              <a:buFont typeface="Arial" panose="020B0604020202020204" pitchFamily="34" charset="0"/>
              <a:buChar char="•"/>
            </a:pPr>
            <a:r>
              <a:rPr lang="en-US" i="0" dirty="0">
                <a:effectLst/>
              </a:rPr>
              <a:t>Self-contained articles</a:t>
            </a:r>
          </a:p>
          <a:p>
            <a:pPr indent="-228600" algn="l">
              <a:buFont typeface="Arial" panose="020B0604020202020204" pitchFamily="34" charset="0"/>
              <a:buChar char="•"/>
            </a:pPr>
            <a:r>
              <a:rPr lang="en-US" i="0" dirty="0">
                <a:effectLst/>
              </a:rPr>
              <a:t>Reinvent the customer service organization</a:t>
            </a:r>
          </a:p>
          <a:p>
            <a:pPr indent="-228600" algn="l">
              <a:buFont typeface="Arial" panose="020B0604020202020204" pitchFamily="34" charset="0"/>
              <a:buChar char="•"/>
            </a:pPr>
            <a:r>
              <a:rPr lang="en-US" dirty="0"/>
              <a:t>Companies are using &amp; work on more POC or RESEARCH on Deploying Gen AI models. </a:t>
            </a:r>
            <a:r>
              <a:rPr lang="en-US" dirty="0">
                <a:hlinkClick r:id="rId3">
                  <a:extLst>
                    <a:ext uri="{A12FA001-AC4F-418D-AE19-62706E023703}">
                      <ahyp:hlinkClr xmlns:ahyp="http://schemas.microsoft.com/office/drawing/2018/hyperlinkcolor" val="tx"/>
                    </a:ext>
                  </a:extLst>
                </a:hlinkClick>
              </a:rPr>
              <a:t>Large</a:t>
            </a:r>
            <a:r>
              <a:rPr lang="en-US" dirty="0"/>
              <a:t>ly Deploying Gen AI chatbots in their customer service strategies. </a:t>
            </a:r>
            <a:endParaRPr lang="en-US" u="sng" dirty="0"/>
          </a:p>
        </p:txBody>
      </p:sp>
    </p:spTree>
    <p:extLst>
      <p:ext uri="{BB962C8B-B14F-4D97-AF65-F5344CB8AC3E}">
        <p14:creationId xmlns:p14="http://schemas.microsoft.com/office/powerpoint/2010/main" val="41882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1" y="25400"/>
            <a:ext cx="12191999" cy="476287"/>
          </a:xfrm>
        </p:spPr>
        <p:txBody>
          <a:bodyPr>
            <a:noAutofit/>
          </a:bodyPr>
          <a:lstStyle/>
          <a:p>
            <a:r>
              <a:rPr lang="en-US" sz="3200" b="1" dirty="0">
                <a:solidFill>
                  <a:schemeClr val="bg1"/>
                </a:solidFill>
              </a:rPr>
              <a:t>8- GENERATIVE JOB MARKET 2024- 2030 AS PER MARKET RESEARCH</a:t>
            </a:r>
            <a:endParaRPr lang="en-IN" sz="3200" b="1" dirty="0">
              <a:solidFill>
                <a:schemeClr val="bg1"/>
              </a:solidFill>
            </a:endParaRP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1" y="501688"/>
            <a:ext cx="6096001" cy="6356311"/>
          </a:xfrm>
        </p:spPr>
        <p:txBody>
          <a:bodyPr>
            <a:noAutofit/>
          </a:bodyPr>
          <a:lstStyle/>
          <a:p>
            <a:pPr algn="l" fontAlgn="auto"/>
            <a:r>
              <a:rPr lang="en-US" sz="2000" b="1" i="0" dirty="0">
                <a:solidFill>
                  <a:schemeClr val="bg1"/>
                </a:solidFill>
                <a:effectLst/>
                <a:latin typeface="-apple-system"/>
              </a:rPr>
              <a:t>Generative Ai in Jobs Market Segmentations : -</a:t>
            </a:r>
          </a:p>
          <a:p>
            <a:pPr algn="l" fontAlgn="auto"/>
            <a:r>
              <a:rPr lang="en-US" sz="2000" b="1" i="0" dirty="0">
                <a:solidFill>
                  <a:schemeClr val="bg1"/>
                </a:solidFill>
                <a:effectLst/>
                <a:latin typeface="-apple-system"/>
              </a:rPr>
              <a:t>Based on Application</a:t>
            </a:r>
          </a:p>
          <a:p>
            <a:pPr algn="l" fontAlgn="auto"/>
            <a:r>
              <a:rPr lang="en-US" sz="2000" b="1" i="0" dirty="0">
                <a:solidFill>
                  <a:schemeClr val="bg1"/>
                </a:solidFill>
                <a:effectLst/>
                <a:latin typeface="-apple-system"/>
              </a:rPr>
              <a:t>Content Creation</a:t>
            </a:r>
          </a:p>
          <a:p>
            <a:pPr algn="l" fontAlgn="auto"/>
            <a:r>
              <a:rPr lang="en-US" sz="2000" b="1" i="0" dirty="0">
                <a:solidFill>
                  <a:schemeClr val="bg1"/>
                </a:solidFill>
                <a:effectLst/>
                <a:latin typeface="-apple-system"/>
              </a:rPr>
              <a:t>Data Analysis</a:t>
            </a:r>
          </a:p>
          <a:p>
            <a:pPr algn="l" fontAlgn="auto"/>
            <a:r>
              <a:rPr lang="en-US" sz="2000" b="1" i="0" dirty="0">
                <a:solidFill>
                  <a:schemeClr val="bg1"/>
                </a:solidFill>
                <a:effectLst/>
                <a:latin typeface="-apple-system"/>
              </a:rPr>
              <a:t>Customer Services</a:t>
            </a:r>
          </a:p>
          <a:p>
            <a:pPr algn="l" fontAlgn="auto"/>
            <a:r>
              <a:rPr lang="en-US" sz="2000" b="1" i="0" dirty="0">
                <a:solidFill>
                  <a:schemeClr val="bg1"/>
                </a:solidFill>
                <a:effectLst/>
                <a:latin typeface="-apple-system"/>
              </a:rPr>
              <a:t>Other Applications</a:t>
            </a:r>
          </a:p>
          <a:p>
            <a:pPr algn="l" fontAlgn="auto"/>
            <a:r>
              <a:rPr lang="en-US" sz="2000" b="1" i="0" dirty="0">
                <a:solidFill>
                  <a:schemeClr val="bg1"/>
                </a:solidFill>
                <a:effectLst/>
                <a:latin typeface="-apple-system"/>
              </a:rPr>
              <a:t>Based on Technology</a:t>
            </a:r>
          </a:p>
          <a:p>
            <a:pPr algn="l" fontAlgn="auto"/>
            <a:r>
              <a:rPr lang="en-US" sz="2000" b="1" i="0" dirty="0">
                <a:solidFill>
                  <a:schemeClr val="bg1"/>
                </a:solidFill>
                <a:effectLst/>
                <a:latin typeface="-apple-system"/>
              </a:rPr>
              <a:t>Natural Language Processing</a:t>
            </a:r>
          </a:p>
          <a:p>
            <a:pPr algn="l" fontAlgn="auto"/>
            <a:r>
              <a:rPr lang="en-US" sz="2000" b="1" i="0" dirty="0">
                <a:solidFill>
                  <a:schemeClr val="bg1"/>
                </a:solidFill>
                <a:effectLst/>
                <a:latin typeface="-apple-system"/>
              </a:rPr>
              <a:t>Computer Vision</a:t>
            </a:r>
          </a:p>
          <a:p>
            <a:pPr algn="l" fontAlgn="auto"/>
            <a:r>
              <a:rPr lang="en-US" sz="2000" b="1" i="0" dirty="0">
                <a:solidFill>
                  <a:schemeClr val="bg1"/>
                </a:solidFill>
                <a:effectLst/>
                <a:latin typeface="-apple-system"/>
              </a:rPr>
              <a:t>Machine Learning</a:t>
            </a:r>
          </a:p>
          <a:p>
            <a:pPr algn="l" fontAlgn="auto"/>
            <a:r>
              <a:rPr lang="en-US" sz="2000" b="1" i="0" dirty="0">
                <a:solidFill>
                  <a:schemeClr val="bg1"/>
                </a:solidFill>
                <a:effectLst/>
                <a:latin typeface="-apple-system"/>
              </a:rPr>
              <a:t>Other Technologies</a:t>
            </a:r>
          </a:p>
          <a:p>
            <a:pPr algn="l" fontAlgn="auto"/>
            <a:r>
              <a:rPr lang="en-US" sz="2000" b="1" i="0" dirty="0">
                <a:solidFill>
                  <a:schemeClr val="bg1"/>
                </a:solidFill>
                <a:effectLst/>
                <a:latin typeface="-apple-system"/>
              </a:rPr>
              <a:t>Based on Job Field</a:t>
            </a:r>
          </a:p>
          <a:p>
            <a:pPr algn="l" fontAlgn="auto"/>
            <a:r>
              <a:rPr lang="en-US" sz="2000" b="1" i="0" dirty="0">
                <a:solidFill>
                  <a:schemeClr val="bg1"/>
                </a:solidFill>
                <a:effectLst/>
                <a:latin typeface="-apple-system"/>
              </a:rPr>
              <a:t>Marketing</a:t>
            </a:r>
          </a:p>
          <a:p>
            <a:pPr algn="l" fontAlgn="auto"/>
            <a:r>
              <a:rPr lang="en-US" sz="2000" b="1" i="0" dirty="0">
                <a:solidFill>
                  <a:schemeClr val="bg1"/>
                </a:solidFill>
                <a:effectLst/>
                <a:latin typeface="-apple-system"/>
              </a:rPr>
              <a:t>Human Resource</a:t>
            </a:r>
          </a:p>
          <a:p>
            <a:pPr algn="l" fontAlgn="auto"/>
            <a:r>
              <a:rPr lang="en-US" sz="2000" b="1" i="0" dirty="0">
                <a:solidFill>
                  <a:schemeClr val="bg1"/>
                </a:solidFill>
                <a:effectLst/>
                <a:latin typeface="-apple-system"/>
              </a:rPr>
              <a:t>Research</a:t>
            </a:r>
          </a:p>
          <a:p>
            <a:pPr algn="l" fontAlgn="auto"/>
            <a:r>
              <a:rPr lang="en-US" sz="2000" b="1" i="0" dirty="0">
                <a:solidFill>
                  <a:schemeClr val="bg1"/>
                </a:solidFill>
                <a:effectLst/>
                <a:latin typeface="-apple-system"/>
              </a:rPr>
              <a:t>Other Fields</a:t>
            </a:r>
          </a:p>
          <a:p>
            <a:pPr algn="l"/>
            <a:endParaRPr lang="en-IN" sz="2000" b="1" dirty="0">
              <a:solidFill>
                <a:schemeClr val="bg1"/>
              </a:solidFill>
            </a:endParaRPr>
          </a:p>
        </p:txBody>
      </p:sp>
      <p:sp>
        <p:nvSpPr>
          <p:cNvPr id="19" name="Rectangle 18">
            <a:extLst>
              <a:ext uri="{FF2B5EF4-FFF2-40B4-BE49-F238E27FC236}">
                <a16:creationId xmlns:a16="http://schemas.microsoft.com/office/drawing/2014/main" id="{1A89CBBC-7743-43D9-A324-25CB472E9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34112" y="638849"/>
            <a:ext cx="5505449" cy="547564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E90C7B7-CD6C-126E-A26A-013875690CC7}"/>
              </a:ext>
            </a:extLst>
          </p:cNvPr>
          <p:cNvPicPr>
            <a:picLocks noChangeAspect="1"/>
          </p:cNvPicPr>
          <p:nvPr/>
        </p:nvPicPr>
        <p:blipFill>
          <a:blip r:embed="rId2"/>
          <a:stretch>
            <a:fillRect/>
          </a:stretch>
        </p:blipFill>
        <p:spPr>
          <a:xfrm>
            <a:off x="3210560" y="863600"/>
            <a:ext cx="8859520" cy="5831840"/>
          </a:xfrm>
          <a:prstGeom prst="rect">
            <a:avLst/>
          </a:prstGeom>
        </p:spPr>
      </p:pic>
    </p:spTree>
    <p:extLst>
      <p:ext uri="{BB962C8B-B14F-4D97-AF65-F5344CB8AC3E}">
        <p14:creationId xmlns:p14="http://schemas.microsoft.com/office/powerpoint/2010/main" val="3919777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3BE78F4-D13B-07AD-F95A-1C2B269A84D1}"/>
              </a:ext>
            </a:extLst>
          </p:cNvPr>
          <p:cNvPicPr>
            <a:picLocks noChangeAspect="1"/>
          </p:cNvPicPr>
          <p:nvPr/>
        </p:nvPicPr>
        <p:blipFill rotWithShape="1">
          <a:blip r:embed="rId2"/>
          <a:srcRect r="13808" b="9091"/>
          <a:stretch/>
        </p:blipFill>
        <p:spPr>
          <a:xfrm>
            <a:off x="6797040" y="10"/>
            <a:ext cx="5394960" cy="6857990"/>
          </a:xfrm>
          <a:prstGeom prst="rect">
            <a:avLst/>
          </a:prstGeom>
        </p:spPr>
      </p:pic>
      <p:sp>
        <p:nvSpPr>
          <p:cNvPr id="47" name="Rectangle 46">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858B90-759A-41A5-AABB-165B8025FF3E}"/>
              </a:ext>
            </a:extLst>
          </p:cNvPr>
          <p:cNvSpPr>
            <a:spLocks noGrp="1"/>
          </p:cNvSpPr>
          <p:nvPr>
            <p:ph type="ctrTitle"/>
          </p:nvPr>
        </p:nvSpPr>
        <p:spPr>
          <a:xfrm>
            <a:off x="0" y="0"/>
            <a:ext cx="5562852" cy="3108960"/>
          </a:xfrm>
        </p:spPr>
        <p:txBody>
          <a:bodyPr vert="horz" lIns="91440" tIns="45720" rIns="91440" bIns="45720" rtlCol="0" anchor="b">
            <a:noAutofit/>
          </a:bodyPr>
          <a:lstStyle/>
          <a:p>
            <a:pPr algn="l"/>
            <a:br>
              <a:rPr lang="en-US" sz="4000" b="1" dirty="0">
                <a:solidFill>
                  <a:schemeClr val="bg1"/>
                </a:solidFill>
              </a:rPr>
            </a:br>
            <a:br>
              <a:rPr lang="en-US" sz="4000" b="1" dirty="0">
                <a:solidFill>
                  <a:schemeClr val="bg1"/>
                </a:solidFill>
              </a:rPr>
            </a:br>
            <a:br>
              <a:rPr lang="en-US" sz="4000" b="1" dirty="0">
                <a:solidFill>
                  <a:schemeClr val="bg1"/>
                </a:solidFill>
              </a:rPr>
            </a:br>
            <a:br>
              <a:rPr lang="en-US" sz="4000" b="1" dirty="0">
                <a:solidFill>
                  <a:schemeClr val="bg1"/>
                </a:solidFill>
              </a:rPr>
            </a:br>
            <a:br>
              <a:rPr lang="en-US" sz="4000" b="1" dirty="0">
                <a:solidFill>
                  <a:schemeClr val="bg1"/>
                </a:solidFill>
              </a:rPr>
            </a:br>
            <a:br>
              <a:rPr lang="en-US" sz="4000" b="1" dirty="0">
                <a:solidFill>
                  <a:schemeClr val="bg1"/>
                </a:solidFill>
              </a:rPr>
            </a:br>
            <a:r>
              <a:rPr lang="en-US" sz="4000" b="1" dirty="0">
                <a:solidFill>
                  <a:schemeClr val="bg1"/>
                </a:solidFill>
              </a:rPr>
              <a:t>9-WHO ARE ELIGIBLE TO LEARN THIS COURSE</a:t>
            </a:r>
            <a:br>
              <a:rPr lang="en-US" sz="4000" b="1" dirty="0">
                <a:solidFill>
                  <a:schemeClr val="bg1"/>
                </a:solidFill>
              </a:rPr>
            </a:br>
            <a:br>
              <a:rPr lang="en-US" sz="4000" b="1" dirty="0">
                <a:solidFill>
                  <a:schemeClr val="bg1"/>
                </a:solidFill>
              </a:rPr>
            </a:br>
            <a:br>
              <a:rPr lang="en-US" sz="4000" b="1" dirty="0">
                <a:solidFill>
                  <a:schemeClr val="bg1"/>
                </a:solidFill>
              </a:rPr>
            </a:br>
            <a:endParaRPr lang="en-US" sz="4000" b="1" dirty="0">
              <a:solidFill>
                <a:schemeClr val="bg1"/>
              </a:solidFill>
            </a:endParaRPr>
          </a:p>
        </p:txBody>
      </p:sp>
      <p:sp>
        <p:nvSpPr>
          <p:cNvPr id="49" name="Rectangle 4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 name="Rectangle 5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6034E28A-CD1B-42FC-98BB-F5BBACFDB0B2}"/>
              </a:ext>
            </a:extLst>
          </p:cNvPr>
          <p:cNvSpPr>
            <a:spLocks noGrp="1"/>
          </p:cNvSpPr>
          <p:nvPr>
            <p:ph type="subTitle" idx="1"/>
          </p:nvPr>
        </p:nvSpPr>
        <p:spPr>
          <a:xfrm>
            <a:off x="0" y="1056640"/>
            <a:ext cx="6797040" cy="5801350"/>
          </a:xfrm>
        </p:spPr>
        <p:txBody>
          <a:bodyPr vert="horz" lIns="91440" tIns="45720" rIns="91440" bIns="45720" rtlCol="0" anchor="t">
            <a:noAutofit/>
          </a:bodyPr>
          <a:lstStyle/>
          <a:p>
            <a:pPr marL="342900" indent="-228600" algn="l">
              <a:buFont typeface="Arial" panose="020B0604020202020204" pitchFamily="34" charset="0"/>
              <a:buChar char="•"/>
            </a:pPr>
            <a:endParaRPr lang="en-US" sz="2000" b="1" dirty="0">
              <a:solidFill>
                <a:schemeClr val="bg1"/>
              </a:solidFill>
            </a:endParaRPr>
          </a:p>
          <a:p>
            <a:pPr marL="342900" indent="-228600" algn="l">
              <a:buFont typeface="Arial" panose="020B0604020202020204" pitchFamily="34" charset="0"/>
              <a:buChar char="•"/>
            </a:pPr>
            <a:r>
              <a:rPr lang="en-US" sz="2000" b="1" dirty="0">
                <a:solidFill>
                  <a:schemeClr val="bg1"/>
                </a:solidFill>
              </a:rPr>
              <a:t>High school (10</a:t>
            </a:r>
            <a:r>
              <a:rPr lang="en-US" sz="2000" b="1" baseline="30000" dirty="0">
                <a:solidFill>
                  <a:schemeClr val="bg1"/>
                </a:solidFill>
              </a:rPr>
              <a:t>th</a:t>
            </a:r>
            <a:r>
              <a:rPr lang="en-US" sz="2000" b="1" dirty="0">
                <a:solidFill>
                  <a:schemeClr val="bg1"/>
                </a:solidFill>
              </a:rPr>
              <a:t>) || College (12</a:t>
            </a:r>
            <a:r>
              <a:rPr lang="en-US" sz="2000" b="1" baseline="30000" dirty="0">
                <a:solidFill>
                  <a:schemeClr val="bg1"/>
                </a:solidFill>
              </a:rPr>
              <a:t>th</a:t>
            </a:r>
            <a:r>
              <a:rPr lang="en-US" sz="2000" b="1" dirty="0">
                <a:solidFill>
                  <a:schemeClr val="bg1"/>
                </a:solidFill>
              </a:rPr>
              <a:t>) || Students can learn this for upskills in future world but not for apply the Job </a:t>
            </a:r>
          </a:p>
          <a:p>
            <a:pPr marL="342900" indent="-228600" algn="l">
              <a:buFont typeface="Arial" panose="020B0604020202020204" pitchFamily="34" charset="0"/>
              <a:buChar char="•"/>
            </a:pPr>
            <a:r>
              <a:rPr lang="en-US" sz="2000" b="1" dirty="0">
                <a:solidFill>
                  <a:schemeClr val="bg1"/>
                </a:solidFill>
              </a:rPr>
              <a:t>College (BSC || BCOM || BA) </a:t>
            </a:r>
          </a:p>
          <a:p>
            <a:pPr marL="342900" indent="-228600" algn="l">
              <a:buFont typeface="Arial" panose="020B0604020202020204" pitchFamily="34" charset="0"/>
              <a:buChar char="•"/>
            </a:pPr>
            <a:r>
              <a:rPr lang="en-US" sz="2000" b="1" dirty="0">
                <a:solidFill>
                  <a:schemeClr val="bg1"/>
                </a:solidFill>
              </a:rPr>
              <a:t>Engineering || B. Tech (Mechanical || Chemical || Computers || Electrical ||All Stream)</a:t>
            </a:r>
          </a:p>
          <a:p>
            <a:pPr marL="342900" indent="-228600" algn="l">
              <a:buFont typeface="Arial" panose="020B0604020202020204" pitchFamily="34" charset="0"/>
              <a:buChar char="•"/>
            </a:pPr>
            <a:r>
              <a:rPr lang="en-US" sz="2000" b="1" dirty="0">
                <a:solidFill>
                  <a:schemeClr val="bg1"/>
                </a:solidFill>
              </a:rPr>
              <a:t>BBA || BCA || BE || Diploma || Pharma || B.ED ||</a:t>
            </a:r>
          </a:p>
          <a:p>
            <a:pPr marL="342900" indent="-228600" algn="l">
              <a:buFont typeface="Arial" panose="020B0604020202020204" pitchFamily="34" charset="0"/>
              <a:buChar char="•"/>
            </a:pPr>
            <a:r>
              <a:rPr lang="en-US" sz="2000" b="1" dirty="0">
                <a:solidFill>
                  <a:schemeClr val="bg1"/>
                </a:solidFill>
              </a:rPr>
              <a:t>MBA || MCA || ME || M.SC || M.ED</a:t>
            </a:r>
          </a:p>
          <a:p>
            <a:pPr marL="342900" indent="-228600" algn="l">
              <a:buFont typeface="Arial" panose="020B0604020202020204" pitchFamily="34" charset="0"/>
              <a:buChar char="•"/>
            </a:pPr>
            <a:r>
              <a:rPr lang="en-US" sz="2000" b="1" dirty="0">
                <a:solidFill>
                  <a:schemeClr val="bg1"/>
                </a:solidFill>
              </a:rPr>
              <a:t>Charted Account || Doctor</a:t>
            </a:r>
          </a:p>
          <a:p>
            <a:pPr marL="342900" indent="-228600" algn="l">
              <a:buFont typeface="Arial" panose="020B0604020202020204" pitchFamily="34" charset="0"/>
              <a:buChar char="•"/>
            </a:pPr>
            <a:r>
              <a:rPr lang="en-US" sz="2000" b="1" dirty="0">
                <a:solidFill>
                  <a:schemeClr val="bg1"/>
                </a:solidFill>
              </a:rPr>
              <a:t>Teacher || Lecturer || Assistant Professor || Professor</a:t>
            </a:r>
          </a:p>
          <a:p>
            <a:pPr marL="342900" indent="-228600" algn="l">
              <a:buFont typeface="Arial" panose="020B0604020202020204" pitchFamily="34" charset="0"/>
              <a:buChar char="•"/>
            </a:pPr>
            <a:r>
              <a:rPr lang="en-US" sz="2000" b="1" dirty="0">
                <a:solidFill>
                  <a:schemeClr val="bg1"/>
                </a:solidFill>
              </a:rPr>
              <a:t>Person who had career gap he is also learn this course and get the job </a:t>
            </a:r>
          </a:p>
          <a:p>
            <a:pPr marL="342900" indent="-228600" algn="l">
              <a:buFont typeface="Arial" panose="020B0604020202020204" pitchFamily="34" charset="0"/>
              <a:buChar char="•"/>
            </a:pPr>
            <a:r>
              <a:rPr lang="en-US" sz="2000" b="1" dirty="0">
                <a:solidFill>
                  <a:schemeClr val="bg1"/>
                </a:solidFill>
              </a:rPr>
              <a:t>No Software Background is required || No Coding background is required</a:t>
            </a:r>
          </a:p>
          <a:p>
            <a:pPr marL="342900" indent="-228600" algn="l">
              <a:buFont typeface="Arial" panose="020B0604020202020204" pitchFamily="34" charset="0"/>
              <a:buChar char="•"/>
            </a:pPr>
            <a:r>
              <a:rPr lang="en-US" sz="2000" b="1" dirty="0">
                <a:solidFill>
                  <a:schemeClr val="bg1"/>
                </a:solidFill>
              </a:rPr>
              <a:t>No mathematics background || Not required Linear algebra concept</a:t>
            </a:r>
          </a:p>
          <a:p>
            <a:pPr indent="-228600" algn="l">
              <a:buFont typeface="Arial" panose="020B0604020202020204" pitchFamily="34" charset="0"/>
              <a:buChar char="•"/>
            </a:pPr>
            <a:endParaRPr lang="en-US" sz="2000" b="1" dirty="0">
              <a:solidFill>
                <a:schemeClr val="bg1"/>
              </a:solidFill>
            </a:endParaRPr>
          </a:p>
          <a:p>
            <a:pPr indent="-228600" algn="l">
              <a:buFont typeface="Arial" panose="020B0604020202020204" pitchFamily="34" charset="0"/>
              <a:buChar char="•"/>
            </a:pPr>
            <a:endParaRPr lang="en-US" sz="2000" b="1" dirty="0">
              <a:solidFill>
                <a:schemeClr val="bg1"/>
              </a:solidFill>
            </a:endParaRPr>
          </a:p>
          <a:p>
            <a:pPr indent="-228600" algn="l">
              <a:buFont typeface="Arial" panose="020B0604020202020204" pitchFamily="34" charset="0"/>
              <a:buChar char="•"/>
            </a:pPr>
            <a:endParaRPr lang="en-US" sz="2000" b="1" dirty="0">
              <a:solidFill>
                <a:schemeClr val="bg1"/>
              </a:solidFill>
            </a:endParaRPr>
          </a:p>
        </p:txBody>
      </p:sp>
    </p:spTree>
    <p:extLst>
      <p:ext uri="{BB962C8B-B14F-4D97-AF65-F5344CB8AC3E}">
        <p14:creationId xmlns:p14="http://schemas.microsoft.com/office/powerpoint/2010/main" val="2772162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0F8E-56C3-FCD7-1D48-F0AA1A00FDAB}"/>
              </a:ext>
            </a:extLst>
          </p:cNvPr>
          <p:cNvSpPr>
            <a:spLocks noGrp="1"/>
          </p:cNvSpPr>
          <p:nvPr>
            <p:ph type="ctrTitle"/>
          </p:nvPr>
        </p:nvSpPr>
        <p:spPr>
          <a:xfrm>
            <a:off x="0" y="0"/>
            <a:ext cx="12110720" cy="772160"/>
          </a:xfrm>
        </p:spPr>
        <p:txBody>
          <a:bodyPr>
            <a:normAutofit/>
          </a:bodyPr>
          <a:lstStyle/>
          <a:p>
            <a:r>
              <a:rPr lang="en-IN" sz="4000" b="1" dirty="0">
                <a:highlight>
                  <a:srgbClr val="00FFFF"/>
                </a:highlight>
              </a:rPr>
              <a:t>11. LATEST GENERATIVE AI TECHNOLOGY</a:t>
            </a:r>
          </a:p>
        </p:txBody>
      </p:sp>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0" y="995680"/>
            <a:ext cx="12192000" cy="5862320"/>
          </a:xfrm>
        </p:spPr>
        <p:txBody>
          <a:bodyPr>
            <a:noAutofit/>
          </a:bodyPr>
          <a:lstStyle/>
          <a:p>
            <a:pPr algn="l"/>
            <a:r>
              <a:rPr lang="en-US" sz="1800" b="1" i="0" dirty="0">
                <a:solidFill>
                  <a:srgbClr val="666666"/>
                </a:solidFill>
                <a:effectLst/>
                <a:highlight>
                  <a:srgbClr val="00FFFF"/>
                </a:highlight>
                <a:latin typeface="Arial" panose="020B0604020202020204" pitchFamily="34" charset="0"/>
              </a:rPr>
              <a:t>AI art (artificial intelligence art)</a:t>
            </a:r>
            <a:br>
              <a:rPr lang="en-US" sz="1800" b="1" i="0" dirty="0">
                <a:solidFill>
                  <a:srgbClr val="666666"/>
                </a:solidFill>
                <a:effectLst/>
                <a:latin typeface="Arial" panose="020B0604020202020204" pitchFamily="34" charset="0"/>
              </a:rPr>
            </a:br>
            <a:r>
              <a:rPr lang="en-US" sz="1800" b="1" i="0" dirty="0">
                <a:solidFill>
                  <a:srgbClr val="666666"/>
                </a:solidFill>
                <a:effectLst/>
                <a:latin typeface="Arial" panose="020B0604020202020204" pitchFamily="34" charset="0"/>
              </a:rPr>
              <a:t>AI art is any form of digital art created or enhanced with AI tools. </a:t>
            </a:r>
          </a:p>
          <a:p>
            <a:pPr algn="l"/>
            <a:r>
              <a:rPr lang="en-US" sz="1800" b="1" i="0" dirty="0">
                <a:solidFill>
                  <a:srgbClr val="666666"/>
                </a:solidFill>
                <a:effectLst/>
                <a:highlight>
                  <a:srgbClr val="00FFFF"/>
                </a:highlight>
                <a:latin typeface="Arial" panose="020B0604020202020204" pitchFamily="34" charset="0"/>
              </a:rPr>
              <a:t>AI prompt</a:t>
            </a:r>
            <a:br>
              <a:rPr lang="en-US" sz="1800" b="1" i="0" dirty="0">
                <a:solidFill>
                  <a:srgbClr val="666666"/>
                </a:solidFill>
                <a:effectLst/>
                <a:latin typeface="Arial" panose="020B0604020202020204" pitchFamily="34" charset="0"/>
              </a:rPr>
            </a:br>
            <a:r>
              <a:rPr lang="en-US" sz="1800" b="1" i="0" dirty="0">
                <a:solidFill>
                  <a:srgbClr val="666666"/>
                </a:solidFill>
                <a:effectLst/>
                <a:latin typeface="Arial" panose="020B0604020202020204" pitchFamily="34" charset="0"/>
              </a:rPr>
              <a:t>An artificial intelligence (AI) prompt is a mode of interaction between a human and a LLM that lets the model generate the intended output. This interaction can be in the form of a question, text, code snippets or examples.</a:t>
            </a:r>
          </a:p>
          <a:p>
            <a:pPr algn="l"/>
            <a:r>
              <a:rPr lang="en-US" sz="1800" b="1" i="0" dirty="0">
                <a:solidFill>
                  <a:srgbClr val="666666"/>
                </a:solidFill>
                <a:effectLst/>
                <a:highlight>
                  <a:srgbClr val="00FFFF"/>
                </a:highlight>
                <a:latin typeface="Arial" panose="020B0604020202020204" pitchFamily="34" charset="0"/>
              </a:rPr>
              <a:t>AI prompt engineer</a:t>
            </a:r>
            <a:br>
              <a:rPr lang="en-US" sz="1800" b="1" i="0" dirty="0">
                <a:solidFill>
                  <a:srgbClr val="666666"/>
                </a:solidFill>
                <a:effectLst/>
                <a:latin typeface="Arial" panose="020B0604020202020204" pitchFamily="34" charset="0"/>
              </a:rPr>
            </a:br>
            <a:r>
              <a:rPr lang="en-US" sz="1800" b="1" i="0" dirty="0">
                <a:solidFill>
                  <a:srgbClr val="666666"/>
                </a:solidFill>
                <a:effectLst/>
                <a:latin typeface="Arial" panose="020B0604020202020204" pitchFamily="34" charset="0"/>
              </a:rPr>
              <a:t>An artificial intelligence (AI) prompt engineer is an expert in creating text-based prompts or cues that can be interpreted and understood by large language models and generative AI tools.</a:t>
            </a:r>
          </a:p>
          <a:p>
            <a:pPr algn="l"/>
            <a:r>
              <a:rPr lang="en-US" sz="1800" b="1" i="0" dirty="0">
                <a:solidFill>
                  <a:srgbClr val="666666"/>
                </a:solidFill>
                <a:effectLst/>
                <a:highlight>
                  <a:srgbClr val="00FFFF"/>
                </a:highlight>
                <a:latin typeface="Arial" panose="020B0604020202020204" pitchFamily="34" charset="0"/>
              </a:rPr>
              <a:t>Amazon Bedrock</a:t>
            </a:r>
            <a:br>
              <a:rPr lang="en-US" sz="1800" b="1" i="0" dirty="0">
                <a:solidFill>
                  <a:srgbClr val="666666"/>
                </a:solidFill>
                <a:effectLst/>
                <a:latin typeface="Arial" panose="020B0604020202020204" pitchFamily="34" charset="0"/>
              </a:rPr>
            </a:br>
            <a:r>
              <a:rPr lang="en-US" sz="1800" b="1" i="0" dirty="0">
                <a:solidFill>
                  <a:srgbClr val="666666"/>
                </a:solidFill>
                <a:effectLst/>
                <a:latin typeface="Arial" panose="020B0604020202020204" pitchFamily="34" charset="0"/>
              </a:rPr>
              <a:t>Amazon Bedrock -- also known as AWS Bedrock -- is a machine learning platform used to build generative artificial intelligence (AI) applications on the Amazon Web Services cloud computing platform.</a:t>
            </a:r>
          </a:p>
          <a:p>
            <a:pPr algn="l"/>
            <a:r>
              <a:rPr lang="en-US" sz="1800" b="1" i="0" dirty="0">
                <a:solidFill>
                  <a:srgbClr val="666666"/>
                </a:solidFill>
                <a:effectLst/>
                <a:highlight>
                  <a:srgbClr val="00FFFF"/>
                </a:highlight>
                <a:latin typeface="Arial" panose="020B0604020202020204" pitchFamily="34" charset="0"/>
              </a:rPr>
              <a:t>Auto-GPT</a:t>
            </a:r>
            <a:br>
              <a:rPr lang="en-US" sz="1800" b="1" i="0" dirty="0">
                <a:solidFill>
                  <a:srgbClr val="666666"/>
                </a:solidFill>
                <a:effectLst/>
                <a:latin typeface="Arial" panose="020B0604020202020204" pitchFamily="34" charset="0"/>
              </a:rPr>
            </a:br>
            <a:r>
              <a:rPr lang="en-US" sz="1800" b="1" i="0" dirty="0" err="1">
                <a:solidFill>
                  <a:srgbClr val="666666"/>
                </a:solidFill>
                <a:effectLst/>
                <a:latin typeface="Arial" panose="020B0604020202020204" pitchFamily="34" charset="0"/>
              </a:rPr>
              <a:t>Auto-GPT</a:t>
            </a:r>
            <a:r>
              <a:rPr lang="en-US" sz="1800" b="1" i="0" dirty="0">
                <a:solidFill>
                  <a:srgbClr val="666666"/>
                </a:solidFill>
                <a:effectLst/>
                <a:latin typeface="Arial" panose="020B0604020202020204" pitchFamily="34" charset="0"/>
              </a:rPr>
              <a:t> is an experimental, open source autonomous AI agent based on the GPT-4 language model that autonomously chains together tasks to achieve a big-picture goal set by the user.</a:t>
            </a:r>
          </a:p>
          <a:p>
            <a:pPr algn="l"/>
            <a:r>
              <a:rPr lang="en-US" sz="1800" b="1" i="0" dirty="0">
                <a:solidFill>
                  <a:srgbClr val="666666"/>
                </a:solidFill>
                <a:effectLst/>
                <a:highlight>
                  <a:srgbClr val="00FFFF"/>
                </a:highlight>
                <a:latin typeface="Arial" panose="020B0604020202020204" pitchFamily="34" charset="0"/>
              </a:rPr>
              <a:t>Google Gemini</a:t>
            </a:r>
            <a:br>
              <a:rPr lang="en-US" sz="1800" b="1" i="0" dirty="0">
                <a:solidFill>
                  <a:srgbClr val="666666"/>
                </a:solidFill>
                <a:effectLst/>
                <a:latin typeface="Arial" panose="020B0604020202020204" pitchFamily="34" charset="0"/>
              </a:rPr>
            </a:br>
            <a:r>
              <a:rPr lang="en-US" sz="1800" b="1" i="0" dirty="0">
                <a:solidFill>
                  <a:srgbClr val="666666"/>
                </a:solidFill>
                <a:effectLst/>
                <a:latin typeface="Arial" panose="020B0604020202020204" pitchFamily="34" charset="0"/>
              </a:rPr>
              <a:t>Google Gemini is a family of multimodal artificial intelligence (AI) large language models that have capabilities in language, audio, code and video understanding.</a:t>
            </a:r>
            <a:endParaRPr lang="en-US" sz="1800" b="1" i="0" u="sng" dirty="0">
              <a:solidFill>
                <a:srgbClr val="008080"/>
              </a:solidFill>
              <a:effectLst/>
              <a:latin typeface="Arial" panose="020B0604020202020204" pitchFamily="34" charset="0"/>
            </a:endParaRPr>
          </a:p>
          <a:p>
            <a:pPr algn="l"/>
            <a:r>
              <a:rPr lang="en-US" sz="1800" b="1" i="0" dirty="0">
                <a:solidFill>
                  <a:srgbClr val="666666"/>
                </a:solidFill>
                <a:effectLst/>
                <a:highlight>
                  <a:srgbClr val="00FFFF"/>
                </a:highlight>
                <a:latin typeface="Arial" panose="020B0604020202020204" pitchFamily="34" charset="0"/>
              </a:rPr>
              <a:t>Google Search Generative Experience</a:t>
            </a:r>
            <a:br>
              <a:rPr lang="en-US" sz="1800" b="1" i="0" dirty="0">
                <a:solidFill>
                  <a:srgbClr val="666666"/>
                </a:solidFill>
                <a:effectLst/>
                <a:latin typeface="Arial" panose="020B0604020202020204" pitchFamily="34" charset="0"/>
              </a:rPr>
            </a:br>
            <a:r>
              <a:rPr lang="en-US" sz="1800" b="1" i="0" dirty="0">
                <a:solidFill>
                  <a:srgbClr val="666666"/>
                </a:solidFill>
                <a:effectLst/>
                <a:latin typeface="Arial" panose="020B0604020202020204" pitchFamily="34" charset="0"/>
              </a:rPr>
              <a:t>Google Search Generative Experience (SGE) is a set of search and interface capabilities that integrates generative AI-powered results into Google search engine query responses.</a:t>
            </a:r>
          </a:p>
          <a:p>
            <a:pPr algn="l"/>
            <a:endParaRPr lang="en-IN" sz="1800" b="1" dirty="0"/>
          </a:p>
        </p:txBody>
      </p:sp>
    </p:spTree>
    <p:extLst>
      <p:ext uri="{BB962C8B-B14F-4D97-AF65-F5344CB8AC3E}">
        <p14:creationId xmlns:p14="http://schemas.microsoft.com/office/powerpoint/2010/main" val="60117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DB4A3AF-DAC4-3E6E-4914-92E1A9CB8C53}"/>
              </a:ext>
            </a:extLst>
          </p:cNvPr>
          <p:cNvSpPr>
            <a:spLocks noGrp="1"/>
          </p:cNvSpPr>
          <p:nvPr>
            <p:ph type="subTitle" idx="1"/>
          </p:nvPr>
        </p:nvSpPr>
        <p:spPr>
          <a:xfrm>
            <a:off x="0" y="101600"/>
            <a:ext cx="12192000" cy="6604000"/>
          </a:xfrm>
        </p:spPr>
        <p:txBody>
          <a:bodyPr>
            <a:noAutofit/>
          </a:bodyPr>
          <a:lstStyle/>
          <a:p>
            <a:pPr algn="l"/>
            <a:r>
              <a:rPr lang="en-US" sz="1600" b="1" i="0" dirty="0">
                <a:solidFill>
                  <a:srgbClr val="666666"/>
                </a:solidFill>
                <a:effectLst/>
                <a:highlight>
                  <a:srgbClr val="00FFFF"/>
                </a:highlight>
                <a:latin typeface="Arial" panose="020B0604020202020204" pitchFamily="34" charset="0"/>
              </a:rPr>
              <a:t>Google Search Labs (GSE)</a:t>
            </a:r>
            <a:br>
              <a:rPr lang="en-US" sz="1600" b="1" i="0" dirty="0">
                <a:solidFill>
                  <a:srgbClr val="666666"/>
                </a:solidFill>
                <a:effectLst/>
                <a:latin typeface="Arial" panose="020B0604020202020204" pitchFamily="34" charset="0"/>
              </a:rPr>
            </a:br>
            <a:r>
              <a:rPr lang="en-US" sz="1600" b="1" i="0" dirty="0">
                <a:solidFill>
                  <a:srgbClr val="666666"/>
                </a:solidFill>
                <a:effectLst/>
                <a:latin typeface="Arial" panose="020B0604020202020204" pitchFamily="34" charset="0"/>
              </a:rPr>
              <a:t>GSE is an initiative from Alphabet's Google division to provide new capabilities and experiments for Google Search in a preview format before they become publicly available. </a:t>
            </a:r>
            <a:endParaRPr lang="en-US" sz="1600" b="1" i="0" u="sng" dirty="0">
              <a:solidFill>
                <a:srgbClr val="008080"/>
              </a:solidFill>
              <a:effectLst/>
              <a:latin typeface="Arial" panose="020B0604020202020204" pitchFamily="34" charset="0"/>
            </a:endParaRPr>
          </a:p>
          <a:p>
            <a:pPr algn="l"/>
            <a:r>
              <a:rPr lang="en-US" sz="1600" b="1" i="0" dirty="0">
                <a:solidFill>
                  <a:srgbClr val="666666"/>
                </a:solidFill>
                <a:effectLst/>
                <a:highlight>
                  <a:srgbClr val="00FFFF"/>
                </a:highlight>
                <a:latin typeface="Arial" panose="020B0604020202020204" pitchFamily="34" charset="0"/>
              </a:rPr>
              <a:t>Image-to-image translation</a:t>
            </a:r>
            <a:br>
              <a:rPr lang="en-US" sz="1600" b="1" i="0" dirty="0">
                <a:solidFill>
                  <a:srgbClr val="666666"/>
                </a:solidFill>
                <a:effectLst/>
                <a:latin typeface="Arial" panose="020B0604020202020204" pitchFamily="34" charset="0"/>
              </a:rPr>
            </a:br>
            <a:r>
              <a:rPr lang="en-US" sz="1600" b="1" i="0" dirty="0">
                <a:solidFill>
                  <a:srgbClr val="666666"/>
                </a:solidFill>
                <a:effectLst/>
                <a:latin typeface="Arial" panose="020B0604020202020204" pitchFamily="34" charset="0"/>
              </a:rPr>
              <a:t>Image-to-image translation is a generative artificial intelligence (AI) technique that translates a source image into a target image while preserving certain visual properties of the original image.</a:t>
            </a:r>
          </a:p>
          <a:p>
            <a:pPr algn="l"/>
            <a:r>
              <a:rPr lang="en-US" sz="1600" b="1" i="0" dirty="0">
                <a:solidFill>
                  <a:srgbClr val="666666"/>
                </a:solidFill>
                <a:effectLst/>
                <a:highlight>
                  <a:srgbClr val="00FFFF"/>
                </a:highlight>
                <a:latin typeface="Arial" panose="020B0604020202020204" pitchFamily="34" charset="0"/>
              </a:rPr>
              <a:t>Inception score</a:t>
            </a:r>
            <a:br>
              <a:rPr lang="en-US" sz="1600" b="1" i="0" dirty="0">
                <a:solidFill>
                  <a:srgbClr val="666666"/>
                </a:solidFill>
                <a:effectLst/>
                <a:latin typeface="Arial" panose="020B0604020202020204" pitchFamily="34" charset="0"/>
              </a:rPr>
            </a:br>
            <a:r>
              <a:rPr lang="en-US" sz="1600" b="1" i="0" dirty="0">
                <a:solidFill>
                  <a:srgbClr val="666666"/>
                </a:solidFill>
                <a:effectLst/>
                <a:latin typeface="Arial" panose="020B0604020202020204" pitchFamily="34" charset="0"/>
              </a:rPr>
              <a:t>The inception score (IS) is a mathematical algorithm used to measure or determine the quality of images created by generative AI through a generative adversarial network (GAN). The word "inception" refers to the spark of creativity or initial beginning of a thought or action traditionally experienced by humans. </a:t>
            </a:r>
            <a:endParaRPr lang="en-US" sz="1600" b="1" i="0" u="sng" dirty="0">
              <a:solidFill>
                <a:srgbClr val="008080"/>
              </a:solidFill>
              <a:effectLst/>
              <a:latin typeface="Arial" panose="020B0604020202020204" pitchFamily="34" charset="0"/>
            </a:endParaRPr>
          </a:p>
          <a:p>
            <a:pPr algn="l"/>
            <a:r>
              <a:rPr lang="en-US" sz="1600" b="1" i="0" dirty="0" err="1">
                <a:solidFill>
                  <a:srgbClr val="666666"/>
                </a:solidFill>
                <a:effectLst/>
                <a:highlight>
                  <a:srgbClr val="00FFFF"/>
                </a:highlight>
                <a:latin typeface="Arial" panose="020B0604020202020204" pitchFamily="34" charset="0"/>
              </a:rPr>
              <a:t>LangChain</a:t>
            </a:r>
            <a:br>
              <a:rPr lang="en-US" sz="1600" b="1" i="0" dirty="0">
                <a:solidFill>
                  <a:srgbClr val="666666"/>
                </a:solidFill>
                <a:effectLst/>
                <a:latin typeface="Arial" panose="020B0604020202020204" pitchFamily="34" charset="0"/>
              </a:rPr>
            </a:br>
            <a:r>
              <a:rPr lang="en-US" sz="1600" b="1" i="0" dirty="0" err="1">
                <a:solidFill>
                  <a:srgbClr val="666666"/>
                </a:solidFill>
                <a:effectLst/>
                <a:latin typeface="Arial" panose="020B0604020202020204" pitchFamily="34" charset="0"/>
              </a:rPr>
              <a:t>LangChain</a:t>
            </a:r>
            <a:r>
              <a:rPr lang="en-US" sz="1600" b="1" i="0" dirty="0">
                <a:solidFill>
                  <a:srgbClr val="666666"/>
                </a:solidFill>
                <a:effectLst/>
                <a:latin typeface="Arial" panose="020B0604020202020204" pitchFamily="34" charset="0"/>
              </a:rPr>
              <a:t> is an open source framework that lets software developers working with artificial intelligence (AI) and its machine learning subset combine large language models with other external components to develop LLM-powered applications.</a:t>
            </a:r>
          </a:p>
          <a:p>
            <a:pPr algn="l"/>
            <a:r>
              <a:rPr lang="en-US" sz="1600" b="1" i="0" dirty="0">
                <a:solidFill>
                  <a:srgbClr val="666666"/>
                </a:solidFill>
                <a:effectLst/>
                <a:highlight>
                  <a:srgbClr val="00FFFF"/>
                </a:highlight>
                <a:latin typeface="Arial" panose="020B0604020202020204" pitchFamily="34" charset="0"/>
              </a:rPr>
              <a:t>Q-learning</a:t>
            </a:r>
            <a:br>
              <a:rPr lang="en-US" sz="1600" b="1" i="0" dirty="0">
                <a:solidFill>
                  <a:srgbClr val="666666"/>
                </a:solidFill>
                <a:effectLst/>
                <a:latin typeface="Arial" panose="020B0604020202020204" pitchFamily="34" charset="0"/>
              </a:rPr>
            </a:br>
            <a:r>
              <a:rPr lang="en-US" sz="1600" b="1" i="0" dirty="0" err="1">
                <a:solidFill>
                  <a:srgbClr val="666666"/>
                </a:solidFill>
                <a:effectLst/>
                <a:latin typeface="Arial" panose="020B0604020202020204" pitchFamily="34" charset="0"/>
              </a:rPr>
              <a:t>Q-learning</a:t>
            </a:r>
            <a:r>
              <a:rPr lang="en-US" sz="1600" b="1" i="0" dirty="0">
                <a:solidFill>
                  <a:srgbClr val="666666"/>
                </a:solidFill>
                <a:effectLst/>
                <a:latin typeface="Arial" panose="020B0604020202020204" pitchFamily="34" charset="0"/>
              </a:rPr>
              <a:t> is a machine learning approach that enables a model to iteratively learn and improve over time by taking the correct action. </a:t>
            </a:r>
          </a:p>
          <a:p>
            <a:pPr algn="l"/>
            <a:r>
              <a:rPr lang="en-US" sz="1600" b="1" i="0" dirty="0">
                <a:solidFill>
                  <a:srgbClr val="666666"/>
                </a:solidFill>
                <a:effectLst/>
                <a:highlight>
                  <a:srgbClr val="00FFFF"/>
                </a:highlight>
                <a:latin typeface="Arial" panose="020B0604020202020204" pitchFamily="34" charset="0"/>
              </a:rPr>
              <a:t>Reinforcement learning from human feedback (RLHF)</a:t>
            </a:r>
            <a:br>
              <a:rPr lang="en-US" sz="1600" b="1" i="0" dirty="0">
                <a:solidFill>
                  <a:srgbClr val="666666"/>
                </a:solidFill>
                <a:effectLst/>
                <a:latin typeface="Arial" panose="020B0604020202020204" pitchFamily="34" charset="0"/>
              </a:rPr>
            </a:br>
            <a:r>
              <a:rPr lang="en-US" sz="1600" b="1" i="0" dirty="0">
                <a:solidFill>
                  <a:srgbClr val="666666"/>
                </a:solidFill>
                <a:effectLst/>
                <a:latin typeface="Arial" panose="020B0604020202020204" pitchFamily="34" charset="0"/>
              </a:rPr>
              <a:t>RLHF is a machine learning approach that combines reinforcement learning techniques, such as rewards and comparisons, with human guidance to train an AI agent.</a:t>
            </a:r>
          </a:p>
          <a:p>
            <a:pPr algn="l"/>
            <a:r>
              <a:rPr lang="en-US" sz="1600" b="1" i="0" dirty="0">
                <a:solidFill>
                  <a:srgbClr val="666666"/>
                </a:solidFill>
                <a:effectLst/>
                <a:highlight>
                  <a:srgbClr val="00FFFF"/>
                </a:highlight>
                <a:latin typeface="Arial" panose="020B0604020202020204" pitchFamily="34" charset="0"/>
              </a:rPr>
              <a:t>Retrieval-augmented generation</a:t>
            </a:r>
            <a:br>
              <a:rPr lang="en-US" sz="1600" b="1" i="0" dirty="0">
                <a:solidFill>
                  <a:srgbClr val="666666"/>
                </a:solidFill>
                <a:effectLst/>
                <a:latin typeface="Arial" panose="020B0604020202020204" pitchFamily="34" charset="0"/>
              </a:rPr>
            </a:br>
            <a:r>
              <a:rPr lang="en-US" sz="1600" b="1" i="0" dirty="0">
                <a:solidFill>
                  <a:srgbClr val="666666"/>
                </a:solidFill>
                <a:effectLst/>
                <a:latin typeface="Arial" panose="020B0604020202020204" pitchFamily="34" charset="0"/>
              </a:rPr>
              <a:t>Retrieval-augmented generation (RAG) is an artificial intelligence (AI) framework that retrieves data from external sources of knowledge to improve the quality of responses.</a:t>
            </a:r>
          </a:p>
          <a:p>
            <a:pPr algn="l"/>
            <a:r>
              <a:rPr lang="en-US" sz="1600" b="1" i="0" dirty="0">
                <a:solidFill>
                  <a:srgbClr val="666666"/>
                </a:solidFill>
                <a:effectLst/>
                <a:highlight>
                  <a:srgbClr val="00FFFF"/>
                </a:highlight>
                <a:latin typeface="Arial" panose="020B0604020202020204" pitchFamily="34" charset="0"/>
              </a:rPr>
              <a:t>Variational autoencoder (VAE)</a:t>
            </a:r>
            <a:br>
              <a:rPr lang="en-US" sz="1600" b="1" i="0" dirty="0">
                <a:solidFill>
                  <a:srgbClr val="666666"/>
                </a:solidFill>
                <a:effectLst/>
                <a:latin typeface="Arial" panose="020B0604020202020204" pitchFamily="34" charset="0"/>
              </a:rPr>
            </a:br>
            <a:r>
              <a:rPr lang="en-US" sz="1600" b="1" i="0" dirty="0">
                <a:solidFill>
                  <a:srgbClr val="666666"/>
                </a:solidFill>
                <a:effectLst/>
                <a:latin typeface="Arial" panose="020B0604020202020204" pitchFamily="34" charset="0"/>
              </a:rPr>
              <a:t>A variational autoencoder is a generative AI algorithm that uses deep learning to generate new content, detect anomalies and remove noise.</a:t>
            </a:r>
          </a:p>
          <a:p>
            <a:pPr algn="l"/>
            <a:endParaRPr lang="en-US" sz="1600" b="1" i="0" dirty="0">
              <a:solidFill>
                <a:srgbClr val="666666"/>
              </a:solidFill>
              <a:effectLst/>
              <a:latin typeface="Arial" panose="020B0604020202020204" pitchFamily="34" charset="0"/>
            </a:endParaRPr>
          </a:p>
          <a:p>
            <a:pPr algn="l"/>
            <a:endParaRPr lang="en-IN" sz="1600" b="1" dirty="0"/>
          </a:p>
        </p:txBody>
      </p:sp>
    </p:spTree>
    <p:extLst>
      <p:ext uri="{BB962C8B-B14F-4D97-AF65-F5344CB8AC3E}">
        <p14:creationId xmlns:p14="http://schemas.microsoft.com/office/powerpoint/2010/main" val="2899782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D6B1E-5BAC-AD2B-506E-F372A011AE3D}"/>
              </a:ext>
            </a:extLst>
          </p:cNvPr>
          <p:cNvSpPr>
            <a:spLocks noGrp="1"/>
          </p:cNvSpPr>
          <p:nvPr>
            <p:ph type="ctrTitle"/>
          </p:nvPr>
        </p:nvSpPr>
        <p:spPr>
          <a:xfrm>
            <a:off x="0" y="-95792"/>
            <a:ext cx="12191999" cy="592182"/>
          </a:xfrm>
          <a:solidFill>
            <a:srgbClr val="002060"/>
          </a:solidFill>
        </p:spPr>
        <p:txBody>
          <a:bodyPr>
            <a:noAutofit/>
          </a:bodyPr>
          <a:lstStyle/>
          <a:p>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r>
              <a:rPr lang="en-IN" sz="2400" b="1" dirty="0">
                <a:solidFill>
                  <a:schemeClr val="bg1"/>
                </a:solidFill>
              </a:rPr>
              <a:t>12. SUPERVISED LEARNING vs UNSUPERVISED LEARNING vs REINFORCEMENT LEARNING</a:t>
            </a:r>
          </a:p>
        </p:txBody>
      </p:sp>
      <p:sp>
        <p:nvSpPr>
          <p:cNvPr id="3" name="Subtitle 2">
            <a:extLst>
              <a:ext uri="{FF2B5EF4-FFF2-40B4-BE49-F238E27FC236}">
                <a16:creationId xmlns:a16="http://schemas.microsoft.com/office/drawing/2014/main" id="{4C0DF4B9-00E7-BBF5-52CF-17CE9CB4C094}"/>
              </a:ext>
            </a:extLst>
          </p:cNvPr>
          <p:cNvSpPr>
            <a:spLocks noGrp="1"/>
          </p:cNvSpPr>
          <p:nvPr>
            <p:ph type="subTitle" idx="1"/>
          </p:nvPr>
        </p:nvSpPr>
        <p:spPr>
          <a:xfrm>
            <a:off x="0" y="496390"/>
            <a:ext cx="12192000" cy="6361609"/>
          </a:xfrm>
        </p:spPr>
        <p:txBody>
          <a:bodyPr>
            <a:normAutofit/>
          </a:bodyPr>
          <a:lstStyle/>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 typeface="Wingdings" panose="05000000000000000000" pitchFamily="2" charset="2"/>
              <a:buChar char="ü"/>
            </a:pPr>
            <a:endParaRPr lang="en-US" sz="2000" b="1" dirty="0"/>
          </a:p>
          <a:p>
            <a:pPr algn="l">
              <a:lnSpc>
                <a:spcPts val="1500"/>
              </a:lnSpc>
            </a:pPr>
            <a:endParaRPr lang="en-IN" sz="2000" b="1" dirty="0"/>
          </a:p>
          <a:p>
            <a:pPr marL="342900" indent="-342900" algn="l">
              <a:lnSpc>
                <a:spcPts val="1500"/>
              </a:lnSpc>
              <a:buFont typeface="Wingdings" panose="05000000000000000000" pitchFamily="2" charset="2"/>
              <a:buChar char="ü"/>
            </a:pPr>
            <a:endParaRPr lang="en-IN" sz="2000" b="1" dirty="0"/>
          </a:p>
          <a:p>
            <a:pPr marL="342900" indent="-342900" algn="l">
              <a:lnSpc>
                <a:spcPts val="1500"/>
              </a:lnSpc>
              <a:buFont typeface="Wingdings" panose="05000000000000000000" pitchFamily="2" charset="2"/>
              <a:buChar char="ü"/>
            </a:pPr>
            <a:endParaRPr lang="en-US" sz="2000" b="1" dirty="0"/>
          </a:p>
        </p:txBody>
      </p:sp>
      <p:pic>
        <p:nvPicPr>
          <p:cNvPr id="5" name="Picture 4">
            <a:extLst>
              <a:ext uri="{FF2B5EF4-FFF2-40B4-BE49-F238E27FC236}">
                <a16:creationId xmlns:a16="http://schemas.microsoft.com/office/drawing/2014/main" id="{55FEEB70-EBB7-7273-77E7-2A27F8A9C663}"/>
              </a:ext>
            </a:extLst>
          </p:cNvPr>
          <p:cNvPicPr>
            <a:picLocks noChangeAspect="1"/>
          </p:cNvPicPr>
          <p:nvPr/>
        </p:nvPicPr>
        <p:blipFill>
          <a:blip r:embed="rId2"/>
          <a:stretch>
            <a:fillRect/>
          </a:stretch>
        </p:blipFill>
        <p:spPr>
          <a:xfrm>
            <a:off x="-1" y="523874"/>
            <a:ext cx="12191999" cy="6159729"/>
          </a:xfrm>
          <a:prstGeom prst="rect">
            <a:avLst/>
          </a:prstGeom>
        </p:spPr>
      </p:pic>
      <p:pic>
        <p:nvPicPr>
          <p:cNvPr id="7" name="Picture 6">
            <a:extLst>
              <a:ext uri="{FF2B5EF4-FFF2-40B4-BE49-F238E27FC236}">
                <a16:creationId xmlns:a16="http://schemas.microsoft.com/office/drawing/2014/main" id="{59AE98CE-C245-61EB-3007-69C0451E94EE}"/>
              </a:ext>
            </a:extLst>
          </p:cNvPr>
          <p:cNvPicPr>
            <a:picLocks noChangeAspect="1"/>
          </p:cNvPicPr>
          <p:nvPr/>
        </p:nvPicPr>
        <p:blipFill>
          <a:blip r:embed="rId3"/>
          <a:stretch>
            <a:fillRect/>
          </a:stretch>
        </p:blipFill>
        <p:spPr>
          <a:xfrm>
            <a:off x="9629166" y="4265403"/>
            <a:ext cx="1876425" cy="361950"/>
          </a:xfrm>
          <a:prstGeom prst="rect">
            <a:avLst/>
          </a:prstGeom>
        </p:spPr>
      </p:pic>
    </p:spTree>
    <p:extLst>
      <p:ext uri="{BB962C8B-B14F-4D97-AF65-F5344CB8AC3E}">
        <p14:creationId xmlns:p14="http://schemas.microsoft.com/office/powerpoint/2010/main" val="3893461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C620650-E130-4D78-293C-8D9CF731283B}"/>
              </a:ext>
            </a:extLst>
          </p:cNvPr>
          <p:cNvPicPr>
            <a:picLocks noChangeAspect="1"/>
          </p:cNvPicPr>
          <p:nvPr/>
        </p:nvPicPr>
        <p:blipFill rotWithShape="1">
          <a:blip r:embed="rId2"/>
          <a:srcRect l="8737" r="14068" b="-2"/>
          <a:stretch/>
        </p:blipFill>
        <p:spPr>
          <a:xfrm>
            <a:off x="5419264" y="3265080"/>
            <a:ext cx="6129269" cy="3592925"/>
          </a:xfrm>
          <a:prstGeom prst="rect">
            <a:avLst/>
          </a:prstGeom>
        </p:spPr>
      </p:pic>
      <p:pic>
        <p:nvPicPr>
          <p:cNvPr id="5" name="Picture 4">
            <a:extLst>
              <a:ext uri="{FF2B5EF4-FFF2-40B4-BE49-F238E27FC236}">
                <a16:creationId xmlns:a16="http://schemas.microsoft.com/office/drawing/2014/main" id="{867FFCA7-AE65-E190-D076-78FCBCB727D8}"/>
              </a:ext>
            </a:extLst>
          </p:cNvPr>
          <p:cNvPicPr>
            <a:picLocks noChangeAspect="1"/>
          </p:cNvPicPr>
          <p:nvPr/>
        </p:nvPicPr>
        <p:blipFill rotWithShape="1">
          <a:blip r:embed="rId3"/>
          <a:srcRect t="3089" r="1" b="1"/>
          <a:stretch/>
        </p:blipFill>
        <p:spPr>
          <a:xfrm>
            <a:off x="643467" y="79583"/>
            <a:ext cx="6082711" cy="3920044"/>
          </a:xfrm>
          <a:custGeom>
            <a:avLst/>
            <a:gdLst/>
            <a:ahLst/>
            <a:cxnLst/>
            <a:rect l="l" t="t" r="r" b="b"/>
            <a:pathLst>
              <a:path w="6082711" h="3920044">
                <a:moveTo>
                  <a:pt x="0" y="0"/>
                </a:moveTo>
                <a:lnTo>
                  <a:pt x="6082711" y="0"/>
                </a:lnTo>
                <a:lnTo>
                  <a:pt x="6082711" y="3103225"/>
                </a:lnTo>
                <a:lnTo>
                  <a:pt x="4614930" y="3103225"/>
                </a:lnTo>
                <a:lnTo>
                  <a:pt x="4614930" y="3920044"/>
                </a:lnTo>
                <a:lnTo>
                  <a:pt x="0" y="3920044"/>
                </a:lnTo>
                <a:close/>
              </a:path>
            </a:pathLst>
          </a:custGeom>
        </p:spPr>
      </p:pic>
      <p:sp>
        <p:nvSpPr>
          <p:cNvPr id="25" name="Rectangle 24">
            <a:extLst>
              <a:ext uri="{FF2B5EF4-FFF2-40B4-BE49-F238E27FC236}">
                <a16:creationId xmlns:a16="http://schemas.microsoft.com/office/drawing/2014/main" id="{E97C36FC-DEAA-4DCA-B0AB-7F9357FA4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7045" y="643467"/>
            <a:ext cx="4661488" cy="2460741"/>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78C38CD-A630-49FF-8417-6792A2B13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4080063"/>
            <a:ext cx="4614930" cy="2156145"/>
          </a:xfrm>
          <a:prstGeom prst="rect">
            <a:avLst/>
          </a:pr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19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3657</TotalTime>
  <Words>3750</Words>
  <Application>Microsoft Office PowerPoint</Application>
  <PresentationFormat>Widescreen</PresentationFormat>
  <Paragraphs>199</Paragraphs>
  <Slides>21</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-apple-system</vt:lpstr>
      <vt:lpstr>Arial</vt:lpstr>
      <vt:lpstr>Calibri</vt:lpstr>
      <vt:lpstr>Calibri Light</vt:lpstr>
      <vt:lpstr>Gilroy</vt:lpstr>
      <vt:lpstr>Source Sans Pro</vt:lpstr>
      <vt:lpstr>Wingdings</vt:lpstr>
      <vt:lpstr>Office Theme</vt:lpstr>
      <vt:lpstr>PowerPoint Presentation</vt:lpstr>
      <vt:lpstr>3- GENERATIVE ARTIFICIAL INTELLIGENCE</vt:lpstr>
      <vt:lpstr>WHY GENERATIVE AI IS MORE POPULAR NOW ?</vt:lpstr>
      <vt:lpstr>HOW GENEARATIVE AI WORK? </vt:lpstr>
      <vt:lpstr>Generative AI works with 2 key features –  GAN (Generative Adversarial Network) &amp; VAE(Various Autoencoders)</vt:lpstr>
      <vt:lpstr>AUTOENCODERS </vt:lpstr>
      <vt:lpstr>SEVERAL TYPES OF AUTOENCODERS</vt:lpstr>
      <vt:lpstr>GENERATIVE AI MODELS </vt:lpstr>
      <vt:lpstr>WHAT ARE DALL-E, CHATGPT &amp; BARD ? </vt:lpstr>
      <vt:lpstr>USE CASES OF GENERATIVE AI,BY INDUSTRY  </vt:lpstr>
      <vt:lpstr>WHAT ARE THE BENEFITS OF GENERATIVE AI?</vt:lpstr>
      <vt:lpstr>What Does it Take to Build a Generative AI Model? </vt:lpstr>
      <vt:lpstr>4- ARTIFICIAL INTELLIGENCE vs MACHINE LEARNING vs DEEP LEARNING VS GENERATIVE AI </vt:lpstr>
      <vt:lpstr>AI vs GENERATIVE AI vs MACHINE LEARNING vs LLMS vs DEEP LEARNING vs NEURAL NETWORKS</vt:lpstr>
      <vt:lpstr>7- HOW GENERATIVE AI USED IN ORGANIZATION</vt:lpstr>
      <vt:lpstr>8- GENERATIVE JOB MARKET 2024- 2030 AS PER MARKET RESEARCH</vt:lpstr>
      <vt:lpstr>      9-WHO ARE ELIGIBLE TO LEARN THIS COURSE   </vt:lpstr>
      <vt:lpstr>11. LATEST GENERATIVE AI TECHNOLOGY</vt:lpstr>
      <vt:lpstr>PowerPoint Presentation</vt:lpstr>
      <vt:lpstr>         12. SUPERVISED LEARNING vs UNSUPERVISED LEARNING vs REINFORCEMENT LEARNING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kodi prakash senapati</dc:creator>
  <cp:lastModifiedBy>kodi datascientist</cp:lastModifiedBy>
  <cp:revision>46</cp:revision>
  <dcterms:created xsi:type="dcterms:W3CDTF">2023-12-18T17:00:04Z</dcterms:created>
  <dcterms:modified xsi:type="dcterms:W3CDTF">2026-09-05T05:08:52Z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2023-12-18T17:00:20Z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fef07c45-9e0d-4224-8a97-78a39d8ae827</vt:lpwstr>
  </property>
  <property fmtid="{D5CDD505-2E9C-101B-9397-08002B2CF9AE}" pid="7" name="MSIP_Label_defa4170-0d19-0005-0004-bc88714345d2_ActionId">
    <vt:lpwstr>45dd1902-fb56-46bb-92a2-ebe9c718c9d7</vt:lpwstr>
  </property>
  <property fmtid="{D5CDD505-2E9C-101B-9397-08002B2CF9AE}" pid="8" name="MSIP_Label_defa4170-0d19-0005-0004-bc88714345d2_ContentBits">
    <vt:lpwstr>0</vt:lpwstr>
  </property>
</Properties>
</file>